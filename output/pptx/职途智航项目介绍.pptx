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开场介绍项目名称和服务对象。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说明本次汇报的五个部分。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团队采用职责分工方式展示，成员姓名可在提交前补充。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用一句话说明项目定位，再介绍完整业务闭环和边界。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强调三类角色共用一套服务端权限模型。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从真实痛点出发，逐项对应系统需求和可验证结果。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按学生主流程讲解，并说明教师与管理员如何进入闭环。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说明前后端分离架构、业务数据库和 FastGPT 的数据边界。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强调规则、模型、教师各自承担不同判断职责。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解释岗位匹配权重、硬性过滤和结果可解释性。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说明职业与政策双路问答，以及有来源、无来源和异常三种处理。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介绍核心实体和授权关系，强调最小数据原则。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展示真实工作台页面，说明三角色界面与治理能力。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汇报本地测试证据和面向学生、教师、学校的应用价值。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结束语：以规则保证可解释，以模型提升服务效率，以教师保留最终专业判断。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91698-4A05-4CE7-9618-EB3D0E87A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E1D65C-565D-44CE-B3B8-0BC416BB1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-127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EB3F0-9292-4B21-9034-DD182811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350F8-8326-4508-BD04-5231B00E4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54EB4-25EB-4462-B41A-063238977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FA023F-AE69-4AEC-AA3D-5B170C07185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620D52-8D0A-4EA2-9CEC-84D0DB52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17AEE6-A0C6-414B-94B9-0E715F08B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E15696-B4C3-47E3-A926-A25639CF2FD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760FBDFE-C587-4B4C-A407-44438C67B59E}" type="datetimeFigureOut">
              <a:t>2026/9/14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EFAB5-F931-4BC8-AE5F-1FD7FE6B5A6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0B8C9D-C046-4F0E-845F-6C527D9ED22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  <p:pic>
        <p:nvPicPr>
          <p:cNvPr id="14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5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7194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58D0DC-2C13-4544-9B14-AB8F7C3E99BE}"/>
              </a:ext>
            </a:extLst>
          </p:cNvPr>
          <p:cNvSpPr>
            <a:spLocks noGrp="1"/>
          </p:cNvSpPr>
          <p:nvPr/>
        </p:nvSpPr>
        <p:spPr>
          <a:xfrm>
            <a:off x="2305050" y="2122805"/>
            <a:ext cx="7582535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8AF5B8-6CA3-40C2-919F-866A88B6E39F}"/>
              </a:ext>
            </a:extLst>
          </p:cNvPr>
          <p:cNvSpPr>
            <a:spLocks noGrp="1"/>
          </p:cNvSpPr>
          <p:nvPr/>
        </p:nvSpPr>
        <p:spPr>
          <a:xfrm>
            <a:off x="2388870" y="4230370"/>
            <a:ext cx="7575550" cy="7486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高校就业择业规划智能体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参赛团队</a:t>
            </a:r>
            <a:r>
              <a:rPr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哗啦啦的陶喆</a:t>
            </a:r>
            <a:endParaRPr b="1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C938A5-F9C8-46AE-8F7F-EB2D34225790}"/>
              </a:ext>
            </a:extLst>
          </p:cNvPr>
          <p:cNvSpPr>
            <a:spLocks noGrp="1"/>
          </p:cNvSpPr>
          <p:nvPr/>
        </p:nvSpPr>
        <p:spPr>
          <a:xfrm>
            <a:off x="10013950" y="316230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A2772E-9F3D-D843-F490-3AACAE370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731" y="0"/>
            <a:ext cx="2907269" cy="81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8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6F67A88C-5E22-4A77-8CC3-433DD89F703A}"/>
              </a:ext>
            </a:extLst>
          </p:cNvPr>
          <p:cNvSpPr>
            <a:spLocks noGrp="1"/>
          </p:cNvSpPr>
          <p:nvPr/>
        </p:nvSpPr>
        <p:spPr>
          <a:xfrm>
            <a:off x="1780111" y="4094333"/>
            <a:ext cx="2481192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sz="32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E90250F-5EDC-4F79-A29D-33C65CD2E9D6}"/>
              </a:ext>
            </a:extLst>
          </p:cNvPr>
          <p:cNvSpPr>
            <a:spLocks noGrp="1"/>
          </p:cNvSpPr>
          <p:nvPr/>
        </p:nvSpPr>
        <p:spPr>
          <a:xfrm>
            <a:off x="1848251" y="2574850"/>
            <a:ext cx="1313180" cy="144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sz="8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76FF054-8651-46CC-88B3-495624BD555F}"/>
              </a:ext>
            </a:extLst>
          </p:cNvPr>
          <p:cNvSpPr>
            <a:spLocks noGrp="1"/>
          </p:cNvSpPr>
          <p:nvPr/>
        </p:nvSpPr>
        <p:spPr>
          <a:xfrm>
            <a:off x="3020707" y="2986337"/>
            <a:ext cx="1031051" cy="110799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sz="66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</a:p>
        </p:txBody>
      </p:sp>
      <p:sp>
        <p:nvSpPr>
          <p:cNvPr id="28" name="序号">
            <a:extLst>
              <a:ext uri="{FF2B5EF4-FFF2-40B4-BE49-F238E27FC236}">
                <a16:creationId xmlns:a16="http://schemas.microsoft.com/office/drawing/2014/main" id="{95AF054B-9187-4ABE-A1DD-FDD30E5DC0B3}"/>
              </a:ext>
            </a:extLst>
          </p:cNvPr>
          <p:cNvSpPr>
            <a:spLocks noGrp="1"/>
          </p:cNvSpPr>
          <p:nvPr/>
        </p:nvSpPr>
        <p:spPr>
          <a:xfrm>
            <a:off x="5874385" y="14370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9" name="项标题">
            <a:extLst>
              <a:ext uri="{FF2B5EF4-FFF2-40B4-BE49-F238E27FC236}">
                <a16:creationId xmlns:a16="http://schemas.microsoft.com/office/drawing/2014/main" id="{6DB5AA37-B810-4639-BCE9-EF1D1D70FDCB}"/>
              </a:ext>
            </a:extLst>
          </p:cNvPr>
          <p:cNvSpPr>
            <a:spLocks noGrp="1"/>
          </p:cNvSpPr>
          <p:nvPr/>
        </p:nvSpPr>
        <p:spPr>
          <a:xfrm>
            <a:off x="6898333" y="1564899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30" name="序号">
            <a:extLst>
              <a:ext uri="{FF2B5EF4-FFF2-40B4-BE49-F238E27FC236}">
                <a16:creationId xmlns:a16="http://schemas.microsoft.com/office/drawing/2014/main" id="{B70FFEAD-E3F3-4FBA-96FC-2CC21CAD32B1}"/>
              </a:ext>
            </a:extLst>
          </p:cNvPr>
          <p:cNvSpPr>
            <a:spLocks noGrp="1"/>
          </p:cNvSpPr>
          <p:nvPr/>
        </p:nvSpPr>
        <p:spPr>
          <a:xfrm>
            <a:off x="5874385" y="23514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1" name="项标题">
            <a:extLst>
              <a:ext uri="{FF2B5EF4-FFF2-40B4-BE49-F238E27FC236}">
                <a16:creationId xmlns:a16="http://schemas.microsoft.com/office/drawing/2014/main" id="{8A982B05-2CB4-41B9-96E4-E33B9E6B6F36}"/>
              </a:ext>
            </a:extLst>
          </p:cNvPr>
          <p:cNvSpPr>
            <a:spLocks noGrp="1"/>
          </p:cNvSpPr>
          <p:nvPr/>
        </p:nvSpPr>
        <p:spPr>
          <a:xfrm>
            <a:off x="6898333" y="2479453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作品介绍</a:t>
            </a:r>
          </a:p>
        </p:txBody>
      </p:sp>
      <p:sp>
        <p:nvSpPr>
          <p:cNvPr id="32" name="序号">
            <a:extLst>
              <a:ext uri="{FF2B5EF4-FFF2-40B4-BE49-F238E27FC236}">
                <a16:creationId xmlns:a16="http://schemas.microsoft.com/office/drawing/2014/main" id="{083CADF4-EC03-4D27-885D-5984CE572106}"/>
              </a:ext>
            </a:extLst>
          </p:cNvPr>
          <p:cNvSpPr>
            <a:spLocks noGrp="1"/>
          </p:cNvSpPr>
          <p:nvPr/>
        </p:nvSpPr>
        <p:spPr>
          <a:xfrm>
            <a:off x="5874385" y="32658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3" name="项标题">
            <a:extLst>
              <a:ext uri="{FF2B5EF4-FFF2-40B4-BE49-F238E27FC236}">
                <a16:creationId xmlns:a16="http://schemas.microsoft.com/office/drawing/2014/main" id="{910507B1-BC82-482D-9EBA-5CCCC555E58F}"/>
              </a:ext>
            </a:extLst>
          </p:cNvPr>
          <p:cNvSpPr>
            <a:spLocks noGrp="1"/>
          </p:cNvSpPr>
          <p:nvPr/>
        </p:nvSpPr>
        <p:spPr>
          <a:xfrm>
            <a:off x="6898333" y="3393420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34" name="序号">
            <a:extLst>
              <a:ext uri="{FF2B5EF4-FFF2-40B4-BE49-F238E27FC236}">
                <a16:creationId xmlns:a16="http://schemas.microsoft.com/office/drawing/2014/main" id="{1F6F62E6-7EF6-4589-B8B3-15F62FF8BB5F}"/>
              </a:ext>
            </a:extLst>
          </p:cNvPr>
          <p:cNvSpPr>
            <a:spLocks noGrp="1"/>
          </p:cNvSpPr>
          <p:nvPr/>
        </p:nvSpPr>
        <p:spPr>
          <a:xfrm>
            <a:off x="5874385" y="41802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6" name="序号">
            <a:extLst>
              <a:ext uri="{FF2B5EF4-FFF2-40B4-BE49-F238E27FC236}">
                <a16:creationId xmlns:a16="http://schemas.microsoft.com/office/drawing/2014/main" id="{AB238F70-364C-4B1A-BA2C-3BD9F837EC61}"/>
              </a:ext>
            </a:extLst>
          </p:cNvPr>
          <p:cNvSpPr>
            <a:spLocks noGrp="1"/>
          </p:cNvSpPr>
          <p:nvPr/>
        </p:nvSpPr>
        <p:spPr>
          <a:xfrm>
            <a:off x="5874385" y="50946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7" name="项标题">
            <a:extLst>
              <a:ext uri="{FF2B5EF4-FFF2-40B4-BE49-F238E27FC236}">
                <a16:creationId xmlns:a16="http://schemas.microsoft.com/office/drawing/2014/main" id="{7A24C541-B960-4652-BC53-EF768CA5E278}"/>
              </a:ext>
            </a:extLst>
          </p:cNvPr>
          <p:cNvSpPr>
            <a:spLocks noGrp="1"/>
          </p:cNvSpPr>
          <p:nvPr/>
        </p:nvSpPr>
        <p:spPr>
          <a:xfrm>
            <a:off x="6898333" y="4308277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设计开发</a:t>
            </a:r>
          </a:p>
        </p:txBody>
      </p:sp>
      <p:sp>
        <p:nvSpPr>
          <p:cNvPr id="39" name="项标题">
            <a:extLst>
              <a:ext uri="{FF2B5EF4-FFF2-40B4-BE49-F238E27FC236}">
                <a16:creationId xmlns:a16="http://schemas.microsoft.com/office/drawing/2014/main" id="{3622C904-FDD0-4A3B-B683-28075FF06DDB}"/>
              </a:ext>
            </a:extLst>
          </p:cNvPr>
          <p:cNvSpPr>
            <a:spLocks noGrp="1"/>
          </p:cNvSpPr>
          <p:nvPr/>
        </p:nvSpPr>
        <p:spPr>
          <a:xfrm>
            <a:off x="6898333" y="5222244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应用效果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1BD91A-7D42-4E93-9685-B49BCDBF0EE3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  <a:endParaRPr sz="1575" b="1" i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78E0E9-D008-B2B5-C26F-00B0E2167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4877B1-1DE9-4E11-AC41-1606831128A0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  <a:endParaRPr sz="1575" b="1" i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3F7C68-AEE5-4368-8D0A-21D49A8A6AEE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D2E1A0-8A6B-4E1C-9467-BB32AEEC1926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团队介绍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090752-16FD-4B26-B939-7F350BBF6711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D0A39C60-83EF-4AB4-ACD7-90953BACD168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15D6E1-33E3-4784-BF52-A0315DF129A1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85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725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项目由程林独立完成开发，李耀老师提供就业指导与产品设计指导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F2DD049-9EBA-40F5-B952-2091E79D73C7}"/>
              </a:ext>
            </a:extLst>
          </p:cNvPr>
          <p:cNvSpPr>
            <a:spLocks noGrp="1"/>
          </p:cNvSpPr>
          <p:nvPr/>
        </p:nvSpPr>
        <p:spPr>
          <a:xfrm>
            <a:off x="1600200" y="2476500"/>
            <a:ext cx="723900" cy="723900"/>
          </a:xfrm>
          <a:prstGeom prst="ellipse">
            <a:avLst/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F5E10D-3EA4-4CC9-AE7E-42E223AD8F11}"/>
              </a:ext>
            </a:extLst>
          </p:cNvPr>
          <p:cNvSpPr>
            <a:spLocks noGrp="1"/>
          </p:cNvSpPr>
          <p:nvPr/>
        </p:nvSpPr>
        <p:spPr>
          <a:xfrm>
            <a:off x="2590800" y="24574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程林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64ED96-A572-4494-81D9-7D2162E5D851}"/>
              </a:ext>
            </a:extLst>
          </p:cNvPr>
          <p:cNvSpPr>
            <a:spLocks noGrp="1"/>
          </p:cNvSpPr>
          <p:nvPr/>
        </p:nvSpPr>
        <p:spPr>
          <a:xfrm>
            <a:off x="2590800" y="29432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队长 · 开发负责人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BE6AC4C-7705-4C2D-AC2D-577BDF6ABCD5}"/>
              </a:ext>
            </a:extLst>
          </p:cNvPr>
          <p:cNvSpPr>
            <a:spLocks noGrp="1"/>
          </p:cNvSpPr>
          <p:nvPr/>
        </p:nvSpPr>
        <p:spPr>
          <a:xfrm>
            <a:off x="1600200" y="3619500"/>
            <a:ext cx="4267200" cy="1314450"/>
          </a:xfrm>
          <a:prstGeom prst="roundRect">
            <a:avLst>
              <a:gd name="adj" fmla="val 4348"/>
            </a:avLst>
          </a:prstGeom>
          <a:solidFill>
            <a:srgbClr val="F6F9FF"/>
          </a:solidFill>
          <a:ln w="9525">
            <a:solidFill>
              <a:srgbClr val="D9E4F5"/>
            </a:solidFill>
            <a:prstDash val="solid"/>
          </a:ln>
        </p:spPr>
        <p:txBody>
          <a:bodyPr wrap="square" lIns="171450" tIns="95250" rIns="171450" bIns="952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  <a:endParaRPr sz="1425" b="0" dirty="0">
              <a:solidFill>
                <a:srgbClr val="24344E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空间信息与数字技术</a:t>
            </a:r>
            <a:r>
              <a:rPr sz="1425" b="0" dirty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 · 2024级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负责需求梳理、前端、后端、数据库、FastGPT</a:t>
            </a:r>
            <a:r>
              <a:rPr sz="1425" b="0" dirty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接入与测试</a:t>
            </a:r>
            <a:endParaRPr sz="1425" b="0" dirty="0">
              <a:solidFill>
                <a:srgbClr val="24344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1EAEF0-417B-4B0D-9B6E-2670C908B9F4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723900" cy="723900"/>
          </a:xfrm>
          <a:prstGeom prst="ellipse">
            <a:avLst/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319BA3-7FE1-4976-A60E-7FD94F10F841}"/>
              </a:ext>
            </a:extLst>
          </p:cNvPr>
          <p:cNvSpPr>
            <a:spLocks noGrp="1"/>
          </p:cNvSpPr>
          <p:nvPr/>
        </p:nvSpPr>
        <p:spPr>
          <a:xfrm>
            <a:off x="7658100" y="24574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李耀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699AEC-C419-49CB-A4BC-FF53E8DC2261}"/>
              </a:ext>
            </a:extLst>
          </p:cNvPr>
          <p:cNvSpPr>
            <a:spLocks noGrp="1"/>
          </p:cNvSpPr>
          <p:nvPr/>
        </p:nvSpPr>
        <p:spPr>
          <a:xfrm>
            <a:off x="7658100" y="29432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5460F31-C884-4077-A46C-2F0FD6E3FA67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4267200" cy="1314450"/>
          </a:xfrm>
          <a:prstGeom prst="roundRect">
            <a:avLst>
              <a:gd name="adj" fmla="val 4348"/>
            </a:avLst>
          </a:prstGeom>
          <a:solidFill>
            <a:srgbClr val="F6F9FF"/>
          </a:solidFill>
          <a:ln w="9525">
            <a:solidFill>
              <a:srgbClr val="D9E4F5"/>
            </a:solidFill>
            <a:prstDash val="solid"/>
          </a:ln>
        </p:spPr>
        <p:txBody>
          <a:bodyPr wrap="square" lIns="171450" tIns="95250" rIns="171450" bIns="952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就业指导与项目指导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负责需求方向、业务边界和成果呈现指导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5B67720-4C80-4F9F-A815-B4ECA5A276D9}"/>
              </a:ext>
            </a:extLst>
          </p:cNvPr>
          <p:cNvSpPr>
            <a:spLocks noGrp="1"/>
          </p:cNvSpPr>
          <p:nvPr/>
        </p:nvSpPr>
        <p:spPr>
          <a:xfrm>
            <a:off x="1619250" y="5429250"/>
            <a:ext cx="8953500" cy="514350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9525">
            <a:solidFill>
              <a:srgbClr val="B8CBEA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分工特点：一人完成全栈开发，指导教师把关就业业务逻辑与展示表达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796F03C-55FA-E0B6-FBE0-05E06ABE6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CBB3E6-9DE5-49DC-8598-2DFEC387351E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8CA0AC-8F1C-442C-BCFE-A6C0F3CCDF9D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EB1459-3813-4C66-9E45-674F6E29868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作品介绍：职途智航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EA370C-F491-4EA6-8EE8-482147A14156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D1D57729-3FB2-423C-875A-240FC9B455A6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C4836E-69EF-4C49-8224-20476546E718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 fontScale="85766"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面向高校就业指导的智能规划与协同工作台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263E48-5B78-419C-9846-C4AC32AA53AA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857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rmAutofit fontScale="95663"/>
          </a:bodyPr>
          <a:lstStyle/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将职业画像、岗位匹配、能力缺口和行动计划串成持续更新的业务闭环</a:t>
            </a:r>
          </a:p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 FastGPT 回答职业发展与就业政策问题，保留来源和人工确认提示</a:t>
            </a:r>
          </a:p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让就业指导教师与管理员在授权范围内参与指导和治理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00ECB45-2C09-443A-B3EB-DE163CC5631F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895850" cy="781050"/>
          </a:xfrm>
          <a:prstGeom prst="roundRect">
            <a:avLst>
              <a:gd name="adj" fmla="val 7317"/>
            </a:avLst>
          </a:prstGeom>
          <a:solidFill>
            <a:srgbClr val="FFF6E8"/>
          </a:solidFill>
          <a:ln w="9525">
            <a:solidFill>
              <a:srgbClr val="F0C47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  <a:p>
            <a:pPr algn="l">
              <a:lnSpc>
                <a:spcPct val="112000"/>
              </a:lnSpc>
              <a:buNone/>
              <a:def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rPr>
              <a:t>不自动投递，不替代教师，不承诺录用结果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F0FD35-70E9-4FEA-BC98-0C74E7EC148D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EF4FF"/>
          </a:solidFill>
          <a:ln w="12383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01  职业画像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2E1D655-B966-4E42-B7AE-1FFFC3EFD864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EF4FF"/>
          </a:solidFill>
          <a:ln w="12383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02  岗位匹配</a:t>
            </a:r>
          </a:p>
        </p:txBody>
      </p:sp>
      <p:cxnSp>
        <p:nvCxnSpPr>
          <p:cNvPr id="32" name="直接箭头连接符 31"/>
          <p:cNvCxnSpPr>
            <a:stCxn id="11" idx="3"/>
            <a:endCxn id="12" idx="1"/>
          </p:cNvCxnSpPr>
          <p:nvPr/>
        </p:nvCxnSpPr>
        <p:spPr>
          <a:xfrm>
            <a:off x="8477250" y="2162175"/>
            <a:ext cx="3810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334274B-C6DA-4F43-BBAA-E1BAE5A51A4A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EF4FF"/>
          </a:solidFill>
          <a:ln w="12383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03  能力缺口</a:t>
            </a:r>
          </a:p>
        </p:txBody>
      </p:sp>
      <p:cxnSp>
        <p:nvCxnSpPr>
          <p:cNvPr id="34" name="直接箭头连接符 33"/>
          <p:cNvCxnSpPr>
            <a:stCxn id="12" idx="2"/>
            <a:endCxn id="14" idx="0"/>
          </p:cNvCxnSpPr>
          <p:nvPr/>
        </p:nvCxnSpPr>
        <p:spPr>
          <a:xfrm flipH="1">
            <a:off x="7477125" y="2514600"/>
            <a:ext cx="2381250" cy="6477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5DAD843-B509-4F19-86E1-2350E7D19E20}"/>
              </a:ext>
            </a:extLst>
          </p:cNvPr>
          <p:cNvSpPr>
            <a:spLocks noGrp="1"/>
          </p:cNvSpPr>
          <p:nvPr/>
        </p:nvSpPr>
        <p:spPr>
          <a:xfrm>
            <a:off x="8858250" y="316230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EF4FF"/>
          </a:solidFill>
          <a:ln w="12383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04  行动计划</a:t>
            </a:r>
          </a:p>
        </p:txBody>
      </p:sp>
      <p:cxnSp>
        <p:nvCxnSpPr>
          <p:cNvPr id="36" name="直接箭头连接符 35"/>
          <p:cNvCxnSpPr>
            <a:stCxn id="14" idx="3"/>
            <a:endCxn id="16" idx="1"/>
          </p:cNvCxnSpPr>
          <p:nvPr/>
        </p:nvCxnSpPr>
        <p:spPr>
          <a:xfrm>
            <a:off x="8477250" y="3514725"/>
            <a:ext cx="3810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0D4861D-16BA-4AB7-9E1E-9FF9CD4BBA48}"/>
              </a:ext>
            </a:extLst>
          </p:cNvPr>
          <p:cNvSpPr>
            <a:spLocks noGrp="1"/>
          </p:cNvSpPr>
          <p:nvPr/>
        </p:nvSpPr>
        <p:spPr>
          <a:xfrm>
            <a:off x="6477000" y="451485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AF8F7"/>
          </a:solidFill>
          <a:ln w="12383">
            <a:solidFill>
              <a:srgbClr val="9ACFC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05  智能咨询</a:t>
            </a:r>
          </a:p>
        </p:txBody>
      </p:sp>
      <p:cxnSp>
        <p:nvCxnSpPr>
          <p:cNvPr id="38" name="直接箭头连接符 37"/>
          <p:cNvCxnSpPr>
            <a:stCxn id="16" idx="2"/>
            <a:endCxn id="18" idx="0"/>
          </p:cNvCxnSpPr>
          <p:nvPr/>
        </p:nvCxnSpPr>
        <p:spPr>
          <a:xfrm flipH="1">
            <a:off x="7477125" y="3867150"/>
            <a:ext cx="2381250" cy="6477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1BF6A57-ACA6-49E6-B95A-0D29A31ED377}"/>
              </a:ext>
            </a:extLst>
          </p:cNvPr>
          <p:cNvSpPr>
            <a:spLocks noGrp="1"/>
          </p:cNvSpPr>
          <p:nvPr/>
        </p:nvSpPr>
        <p:spPr>
          <a:xfrm>
            <a:off x="8858250" y="4514850"/>
            <a:ext cx="2000250" cy="704850"/>
          </a:xfrm>
          <a:prstGeom prst="roundRect">
            <a:avLst>
              <a:gd name="adj" fmla="val 9459"/>
            </a:avLst>
          </a:prstGeom>
          <a:solidFill>
            <a:srgbClr val="EAF8F7"/>
          </a:solidFill>
          <a:ln w="12383">
            <a:solidFill>
              <a:srgbClr val="9ACFC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06  教师指导</a:t>
            </a:r>
          </a:p>
        </p:txBody>
      </p:sp>
      <p:cxnSp>
        <p:nvCxnSpPr>
          <p:cNvPr id="40" name="直接箭头连接符 39"/>
          <p:cNvCxnSpPr>
            <a:stCxn id="18" idx="3"/>
            <a:endCxn id="20" idx="1"/>
          </p:cNvCxnSpPr>
          <p:nvPr/>
        </p:nvCxnSpPr>
        <p:spPr>
          <a:xfrm>
            <a:off x="8477250" y="4867275"/>
            <a:ext cx="3810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EB26965D-7D3B-A277-1817-4A6676FB5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70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3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050B7B-904F-415C-B3F9-45E17533FC1F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D46582-9667-4A05-807C-A74F6698A4EC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8AA211-5F30-49CE-8DA7-3C710D76EE26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三类用户与核心功能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21628F-2B80-4D7F-A6F7-7A1F76BF046B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EDD6C974-8EC3-4B89-9436-85A10CB59FAB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70F7095-1D0F-4ACA-BCB7-01FF28FB1E4D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257550" cy="533400"/>
          </a:xfrm>
          <a:prstGeom prst="roundRect">
            <a:avLst>
              <a:gd name="adj" fmla="val 10714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1629976-AFBE-48CF-BC0D-4752C3AF1CF3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3257550" cy="2381250"/>
          </a:xfrm>
          <a:prstGeom prst="roundRect">
            <a:avLst>
              <a:gd name="adj" fmla="val 2400"/>
            </a:avLst>
          </a:prstGeom>
          <a:solidFill>
            <a:srgbClr val="F6F9FF"/>
          </a:solidFill>
          <a:ln w="11430">
            <a:solidFill>
              <a:srgbClr val="CFDB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建立职业画像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查看岗位匹配与缺口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生成阶段行动计划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发起智能咨询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FB40FFA-3FE1-47D5-AF51-F15717F8FFFE}"/>
              </a:ext>
            </a:extLst>
          </p:cNvPr>
          <p:cNvSpPr>
            <a:spLocks noGrp="1"/>
          </p:cNvSpPr>
          <p:nvPr/>
        </p:nvSpPr>
        <p:spPr>
          <a:xfrm>
            <a:off x="4533900" y="1809750"/>
            <a:ext cx="3257550" cy="533400"/>
          </a:xfrm>
          <a:prstGeom prst="roundRect">
            <a:avLst>
              <a:gd name="adj" fmla="val 10714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就业指导教师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946E7FE-5BF4-4B99-80DA-11A58B3D9ADC}"/>
              </a:ext>
            </a:extLst>
          </p:cNvPr>
          <p:cNvSpPr>
            <a:spLocks noGrp="1"/>
          </p:cNvSpPr>
          <p:nvPr/>
        </p:nvSpPr>
        <p:spPr>
          <a:xfrm>
            <a:off x="4533900" y="2476500"/>
            <a:ext cx="3257550" cy="2381250"/>
          </a:xfrm>
          <a:prstGeom prst="roundRect">
            <a:avLst>
              <a:gd name="adj" fmla="val 2400"/>
            </a:avLst>
          </a:prstGeom>
          <a:solidFill>
            <a:srgbClr val="F6F9FF"/>
          </a:solidFill>
          <a:ln w="11430">
            <a:solidFill>
              <a:srgbClr val="CFDB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查看授权学生摘要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跟踪计划执行状态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提交专业指导意见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4D9606-80D5-4D5D-BD04-30D41F8C90D4}"/>
              </a:ext>
            </a:extLst>
          </p:cNvPr>
          <p:cNvSpPr>
            <a:spLocks noGrp="1"/>
          </p:cNvSpPr>
          <p:nvPr/>
        </p:nvSpPr>
        <p:spPr>
          <a:xfrm>
            <a:off x="8343900" y="1809750"/>
            <a:ext cx="3257550" cy="533400"/>
          </a:xfrm>
          <a:prstGeom prst="roundRect">
            <a:avLst>
              <a:gd name="adj" fmla="val 10714"/>
            </a:avLst>
          </a:prstGeom>
          <a:solidFill>
            <a:srgbClr val="16836D"/>
          </a:solidFill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就业管理员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FE19A76-C274-4668-8310-A93A0B64A43C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3257550" cy="2381250"/>
          </a:xfrm>
          <a:prstGeom prst="roundRect">
            <a:avLst>
              <a:gd name="adj" fmla="val 2400"/>
            </a:avLst>
          </a:prstGeom>
          <a:solidFill>
            <a:srgbClr val="F6F9FF"/>
          </a:solidFill>
          <a:ln w="11430">
            <a:solidFill>
              <a:srgbClr val="CFDB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维护账号与师生授权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治理岗位和知识资料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查看脱敏审计事件</a:t>
            </a:r>
          </a:p>
          <a:p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管理系统边界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BEA9F8B-ED21-4BFE-83CA-824ED4DD0B28}"/>
              </a:ext>
            </a:extLst>
          </p:cNvPr>
          <p:cNvSpPr>
            <a:spLocks noGrp="1"/>
          </p:cNvSpPr>
          <p:nvPr/>
        </p:nvSpPr>
        <p:spPr>
          <a:xfrm>
            <a:off x="1847850" y="5219700"/>
            <a:ext cx="8496300" cy="590550"/>
          </a:xfrm>
          <a:prstGeom prst="roundRect">
            <a:avLst>
              <a:gd name="adj" fmla="val 9677"/>
            </a:avLst>
          </a:prstGeom>
          <a:solidFill>
            <a:srgbClr val="EEF4FF"/>
          </a:solidFill>
          <a:ln w="9525">
            <a:solidFill>
              <a:srgbClr val="AEC3E7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同一套服务端权限模型约束数据可见范围，前端不能自行声明或提升角色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1D9D619-9DF5-2B32-E46C-B98DA30F7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64A1E71-AC14-45B0-81AD-493411E4D095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174B44-CE89-44EE-9A53-F10A4D7707EA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EC9D0D-BACC-4A9A-B038-55059DF01C0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9FE8E3-E0D8-45FF-A8F2-C0D5AFDF107E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AC0B3201-B523-45AC-AB48-63AF432494E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0880DA0-2E0C-421B-B20F-D2CEDFDAD1A7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571750" cy="323850"/>
          </a:xfrm>
          <a:prstGeom prst="roundRect">
            <a:avLst>
              <a:gd name="adj" fmla="val 17647"/>
            </a:avLst>
          </a:prstGeom>
          <a:solidFill>
            <a:srgbClr val="173568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高校就业指导痛点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D4F8C51-059E-4D85-A22B-A7907C4BA512}"/>
              </a:ext>
            </a:extLst>
          </p:cNvPr>
          <p:cNvSpPr>
            <a:spLocks noGrp="1"/>
          </p:cNvSpPr>
          <p:nvPr/>
        </p:nvSpPr>
        <p:spPr>
          <a:xfrm>
            <a:off x="4819650" y="1714500"/>
            <a:ext cx="257175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系统需求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5945AD-D63C-4F02-A5BF-690EF827E066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571750" cy="323850"/>
          </a:xfrm>
          <a:prstGeom prst="roundRect">
            <a:avLst>
              <a:gd name="adj" fmla="val 1764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可验证结果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E196BD7-EF6F-4DFD-81F0-E60DF3F55419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F8FAFD"/>
          </a:solidFill>
          <a:ln w="9525">
            <a:solidFill>
              <a:srgbClr val="D5DF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目标模糊，材料零散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60CDE71-F82E-4360-A7ED-D72C53E11F90}"/>
              </a:ext>
            </a:extLst>
          </p:cNvPr>
          <p:cNvSpPr>
            <a:spLocks noGrp="1"/>
          </p:cNvSpPr>
          <p:nvPr/>
        </p:nvSpPr>
        <p:spPr>
          <a:xfrm>
            <a:off x="4819650" y="22860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EF4FF"/>
          </a:solidFill>
          <a:ln w="9525">
            <a:solidFill>
              <a:srgbClr val="B5C8E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结构化职业画像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293B43D-896D-4466-9167-A52FCB584A66}"/>
              </a:ext>
            </a:extLst>
          </p:cNvPr>
          <p:cNvSpPr>
            <a:spLocks noGrp="1"/>
          </p:cNvSpPr>
          <p:nvPr/>
        </p:nvSpPr>
        <p:spPr>
          <a:xfrm>
            <a:off x="8858250" y="22860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AF8F7"/>
          </a:solidFill>
          <a:ln w="9525">
            <a:solidFill>
              <a:srgbClr val="A8D7D0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形成可复用的学生档案</a:t>
            </a:r>
          </a:p>
        </p:txBody>
      </p:sp>
      <p:cxnSp>
        <p:nvCxnSpPr>
          <p:cNvPr id="43" name="直接箭头连接符 42"/>
          <p:cNvCxnSpPr>
            <a:stCxn id="11" idx="3"/>
            <a:endCxn id="12" idx="1"/>
          </p:cNvCxnSpPr>
          <p:nvPr/>
        </p:nvCxnSpPr>
        <p:spPr>
          <a:xfrm>
            <a:off x="3352800" y="25908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44" name="直接箭头连接符 43"/>
          <p:cNvCxnSpPr>
            <a:stCxn id="12" idx="3"/>
            <a:endCxn id="13" idx="1"/>
          </p:cNvCxnSpPr>
          <p:nvPr/>
        </p:nvCxnSpPr>
        <p:spPr>
          <a:xfrm>
            <a:off x="7391400" y="25908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010830E-AB9E-41AD-8A8B-0D3E9E0C90B6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F8FAFD"/>
          </a:solidFill>
          <a:ln w="9525">
            <a:solidFill>
              <a:srgbClr val="D5DF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岗位推荐依据不透明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C4DC99-94D8-43D8-BC7C-B89F2571FB97}"/>
              </a:ext>
            </a:extLst>
          </p:cNvPr>
          <p:cNvSpPr>
            <a:spLocks noGrp="1"/>
          </p:cNvSpPr>
          <p:nvPr/>
        </p:nvSpPr>
        <p:spPr>
          <a:xfrm>
            <a:off x="4819650" y="31242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EF4FF"/>
          </a:solidFill>
          <a:ln w="9525">
            <a:solidFill>
              <a:srgbClr val="B5C8E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固定规则评分与缺口解释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DEEB210-A1FB-4041-93AE-FF753880F757}"/>
              </a:ext>
            </a:extLst>
          </p:cNvPr>
          <p:cNvSpPr>
            <a:spLocks noGrp="1"/>
          </p:cNvSpPr>
          <p:nvPr/>
        </p:nvSpPr>
        <p:spPr>
          <a:xfrm>
            <a:off x="8858250" y="31242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AF8F7"/>
          </a:solidFill>
          <a:ln w="9525">
            <a:solidFill>
              <a:srgbClr val="A8D7D0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相同输入得到稳定结果</a:t>
            </a:r>
          </a:p>
        </p:txBody>
      </p:sp>
      <p:cxnSp>
        <p:nvCxnSpPr>
          <p:cNvPr id="48" name="直接箭头连接符 47"/>
          <p:cNvCxnSpPr>
            <a:stCxn id="16" idx="3"/>
            <a:endCxn id="17" idx="1"/>
          </p:cNvCxnSpPr>
          <p:nvPr/>
        </p:nvCxnSpPr>
        <p:spPr>
          <a:xfrm>
            <a:off x="3352800" y="34290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49" name="直接箭头连接符 48"/>
          <p:cNvCxnSpPr>
            <a:stCxn id="17" idx="3"/>
            <a:endCxn id="18" idx="1"/>
          </p:cNvCxnSpPr>
          <p:nvPr/>
        </p:nvCxnSpPr>
        <p:spPr>
          <a:xfrm>
            <a:off x="7391400" y="34290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7975E15-6BFF-4D10-BF2C-5798301F24E8}"/>
              </a:ext>
            </a:extLst>
          </p:cNvPr>
          <p:cNvSpPr>
            <a:spLocks noGrp="1"/>
          </p:cNvSpPr>
          <p:nvPr/>
        </p:nvSpPr>
        <p:spPr>
          <a:xfrm>
            <a:off x="781050" y="39624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F8FAFD"/>
          </a:solidFill>
          <a:ln w="9525">
            <a:solidFill>
              <a:srgbClr val="D5DF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政策与职业问题重复咨询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44DFE6A-2135-4FD6-95E7-36BA0A674C06}"/>
              </a:ext>
            </a:extLst>
          </p:cNvPr>
          <p:cNvSpPr>
            <a:spLocks noGrp="1"/>
          </p:cNvSpPr>
          <p:nvPr/>
        </p:nvSpPr>
        <p:spPr>
          <a:xfrm>
            <a:off x="4819650" y="39624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EF4FF"/>
          </a:solidFill>
          <a:ln w="9525">
            <a:solidFill>
              <a:srgbClr val="B5C8E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FastGPT 双路知识问答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23C8BCE-98DE-439A-8089-6FEEE74B76EE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AF8F7"/>
          </a:solidFill>
          <a:ln w="9525">
            <a:solidFill>
              <a:srgbClr val="A8D7D0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回答可保留来源与提示</a:t>
            </a:r>
          </a:p>
        </p:txBody>
      </p:sp>
      <p:cxnSp>
        <p:nvCxnSpPr>
          <p:cNvPr id="53" name="直接箭头连接符 52"/>
          <p:cNvCxnSpPr>
            <a:stCxn id="21" idx="3"/>
            <a:endCxn id="22" idx="1"/>
          </p:cNvCxnSpPr>
          <p:nvPr/>
        </p:nvCxnSpPr>
        <p:spPr>
          <a:xfrm>
            <a:off x="3352800" y="42672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4" name="直接箭头连接符 53"/>
          <p:cNvCxnSpPr>
            <a:stCxn id="22" idx="3"/>
            <a:endCxn id="23" idx="1"/>
          </p:cNvCxnSpPr>
          <p:nvPr/>
        </p:nvCxnSpPr>
        <p:spPr>
          <a:xfrm>
            <a:off x="7391400" y="42672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462856B-5BAB-4749-8464-37E3012C2E93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F8FAFD"/>
          </a:solidFill>
          <a:ln w="9525">
            <a:solidFill>
              <a:srgbClr val="D5DFE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教师时间有限，协同边界不清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4C15DBD-FE6C-4511-B885-0DB6164F79CF}"/>
              </a:ext>
            </a:extLst>
          </p:cNvPr>
          <p:cNvSpPr>
            <a:spLocks noGrp="1"/>
          </p:cNvSpPr>
          <p:nvPr/>
        </p:nvSpPr>
        <p:spPr>
          <a:xfrm>
            <a:off x="4819650" y="48006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EF4FF"/>
          </a:solidFill>
          <a:ln w="9525">
            <a:solidFill>
              <a:srgbClr val="B5C8E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授权访问与指导意见闭环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310D284-B347-432E-9D54-BD44D03D6B05}"/>
              </a:ext>
            </a:extLst>
          </p:cNvPr>
          <p:cNvSpPr>
            <a:spLocks noGrp="1"/>
          </p:cNvSpPr>
          <p:nvPr/>
        </p:nvSpPr>
        <p:spPr>
          <a:xfrm>
            <a:off x="8858250" y="4800600"/>
            <a:ext cx="2571750" cy="609600"/>
          </a:xfrm>
          <a:prstGeom prst="roundRect">
            <a:avLst>
              <a:gd name="adj" fmla="val 7813"/>
            </a:avLst>
          </a:prstGeom>
          <a:solidFill>
            <a:srgbClr val="EAF8F7"/>
          </a:solidFill>
          <a:ln w="9525">
            <a:solidFill>
              <a:srgbClr val="A8D7D0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教师只看授权学生摘要</a:t>
            </a:r>
          </a:p>
        </p:txBody>
      </p:sp>
      <p:cxnSp>
        <p:nvCxnSpPr>
          <p:cNvPr id="58" name="直接箭头连接符 57"/>
          <p:cNvCxnSpPr>
            <a:stCxn id="26" idx="3"/>
            <a:endCxn id="27" idx="1"/>
          </p:cNvCxnSpPr>
          <p:nvPr/>
        </p:nvCxnSpPr>
        <p:spPr>
          <a:xfrm>
            <a:off x="3352800" y="51054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9" name="直接箭头连接符 58"/>
          <p:cNvCxnSpPr>
            <a:stCxn id="27" idx="3"/>
            <a:endCxn id="28" idx="1"/>
          </p:cNvCxnSpPr>
          <p:nvPr/>
        </p:nvCxnSpPr>
        <p:spPr>
          <a:xfrm>
            <a:off x="7391400" y="5105400"/>
            <a:ext cx="146685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2DE82A5E-AB83-4AFB-9F62-2BA4CF3747C7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优先满足可解释、可追溯、最小数据和人工协同四项约束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E5A5564-8492-B57D-C769-57F88D612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7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8F6123-E292-4DD6-BE15-4C8D6A0531B8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7A6EC8-EDD6-40CF-B97A-D64F2568DF6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FDF41-F093-4D6C-AD6E-CB29A251E645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业务流程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0AE4BA-033B-4A8D-9455-EE401930FDED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3F336563-B072-467F-80F5-91FD35AFF063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9EB66B-75E8-46E1-9F4F-5942E0FDDA2E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11087100" cy="1352550"/>
          </a:xfrm>
          <a:prstGeom prst="roundRect">
            <a:avLst>
              <a:gd name="adj" fmla="val 4225"/>
            </a:avLst>
          </a:prstGeom>
          <a:solidFill>
            <a:srgbClr val="F2F5F9"/>
          </a:solidFill>
          <a:ln w="9525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602DD61-F55B-4DE4-B187-3557773BF6E4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11087100" cy="1562100"/>
          </a:xfrm>
          <a:prstGeom prst="roundRect">
            <a:avLst>
              <a:gd name="adj" fmla="val 3659"/>
            </a:avLst>
          </a:prstGeom>
          <a:solidFill>
            <a:srgbClr val="F8FAFD"/>
          </a:solidFill>
          <a:ln w="9525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FB39B85-4B3E-4152-9BFB-163F0DC57300}"/>
              </a:ext>
            </a:extLst>
          </p:cNvPr>
          <p:cNvSpPr>
            <a:spLocks noGrp="1"/>
          </p:cNvSpPr>
          <p:nvPr/>
        </p:nvSpPr>
        <p:spPr>
          <a:xfrm>
            <a:off x="552450" y="5010150"/>
            <a:ext cx="11087100" cy="1066800"/>
          </a:xfrm>
          <a:prstGeom prst="roundRect">
            <a:avLst>
              <a:gd name="adj" fmla="val 5357"/>
            </a:avLst>
          </a:prstGeom>
          <a:solidFill>
            <a:srgbClr val="F2F5F9"/>
          </a:solidFill>
          <a:ln w="9525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D2C90C-F536-4AB4-AD74-706766C1120E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04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6E103D-D491-4AC3-BE4A-602888C73DBB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 fontScale="93006"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系统与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43B26E-6227-4967-889A-EBC9C9C3C1B2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04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 fontScale="82237"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教师与</a:t>
            </a:r>
          </a:p>
          <a:p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1B511BD-4D16-4827-8A3D-F6D9026FF44E}"/>
              </a:ext>
            </a:extLst>
          </p:cNvPr>
          <p:cNvSpPr>
            <a:spLocks noGrp="1"/>
          </p:cNvSpPr>
          <p:nvPr/>
        </p:nvSpPr>
        <p:spPr>
          <a:xfrm>
            <a:off x="1952625" y="2038350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注册登录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E2FB62A-C9D8-4F23-8A2C-6067189CF697}"/>
              </a:ext>
            </a:extLst>
          </p:cNvPr>
          <p:cNvSpPr>
            <a:spLocks noGrp="1"/>
          </p:cNvSpPr>
          <p:nvPr/>
        </p:nvSpPr>
        <p:spPr>
          <a:xfrm>
            <a:off x="1952625" y="3705225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EEF4FF"/>
          </a:solidFill>
          <a:ln w="9525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认证与角色校验</a:t>
            </a:r>
          </a:p>
        </p:txBody>
      </p:sp>
      <p:cxnSp>
        <p:nvCxnSpPr>
          <p:cNvPr id="56" name="直接箭头连接符 55"/>
          <p:cNvCxnSpPr>
            <a:stCxn id="14" idx="2"/>
            <a:endCxn id="15" idx="0"/>
          </p:cNvCxnSpPr>
          <p:nvPr/>
        </p:nvCxnSpPr>
        <p:spPr>
          <a:xfrm>
            <a:off x="2667000" y="2686050"/>
            <a:ext cx="0" cy="1019175"/>
          </a:xfrm>
          <a:prstGeom prst="straightConnector1">
            <a:avLst/>
          </a:prstGeom>
          <a:ln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D0BD8FF-F263-4359-8B60-25A4D4248D7F}"/>
              </a:ext>
            </a:extLst>
          </p:cNvPr>
          <p:cNvSpPr>
            <a:spLocks noGrp="1"/>
          </p:cNvSpPr>
          <p:nvPr/>
        </p:nvSpPr>
        <p:spPr>
          <a:xfrm>
            <a:off x="3810000" y="2038350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职业画像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E57A76-4D9E-41E4-9257-7700FB0C1543}"/>
              </a:ext>
            </a:extLst>
          </p:cNvPr>
          <p:cNvSpPr>
            <a:spLocks noGrp="1"/>
          </p:cNvSpPr>
          <p:nvPr/>
        </p:nvSpPr>
        <p:spPr>
          <a:xfrm>
            <a:off x="3810000" y="3705225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EEF4FF"/>
          </a:solidFill>
          <a:ln w="9525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过滤有效岗位</a:t>
            </a:r>
          </a:p>
        </p:txBody>
      </p:sp>
      <p:cxnSp>
        <p:nvCxnSpPr>
          <p:cNvPr id="59" name="直接箭头连接符 58"/>
          <p:cNvCxnSpPr>
            <a:stCxn id="14" idx="3"/>
            <a:endCxn id="17" idx="1"/>
          </p:cNvCxnSpPr>
          <p:nvPr/>
        </p:nvCxnSpPr>
        <p:spPr>
          <a:xfrm>
            <a:off x="3381375" y="2362200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0" name="直接箭头连接符 59"/>
          <p:cNvCxnSpPr>
            <a:stCxn id="15" idx="3"/>
            <a:endCxn id="18" idx="1"/>
          </p:cNvCxnSpPr>
          <p:nvPr/>
        </p:nvCxnSpPr>
        <p:spPr>
          <a:xfrm>
            <a:off x="3381375" y="4029075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1" name="直接箭头连接符 60"/>
          <p:cNvCxnSpPr>
            <a:stCxn id="17" idx="2"/>
            <a:endCxn id="18" idx="0"/>
          </p:cNvCxnSpPr>
          <p:nvPr/>
        </p:nvCxnSpPr>
        <p:spPr>
          <a:xfrm>
            <a:off x="4524375" y="2686050"/>
            <a:ext cx="0" cy="1019175"/>
          </a:xfrm>
          <a:prstGeom prst="straightConnector1">
            <a:avLst/>
          </a:prstGeom>
          <a:ln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E0956C0-499B-4CCF-91F3-048AB510B995}"/>
              </a:ext>
            </a:extLst>
          </p:cNvPr>
          <p:cNvSpPr>
            <a:spLocks noGrp="1"/>
          </p:cNvSpPr>
          <p:nvPr/>
        </p:nvSpPr>
        <p:spPr>
          <a:xfrm>
            <a:off x="5667375" y="2038350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查看匹配</a:t>
            </a:r>
          </a:p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缺口与来源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C4ECE8D-5D08-4ADB-9B66-5FCB766CC584}"/>
              </a:ext>
            </a:extLst>
          </p:cNvPr>
          <p:cNvSpPr>
            <a:spLocks noGrp="1"/>
          </p:cNvSpPr>
          <p:nvPr/>
        </p:nvSpPr>
        <p:spPr>
          <a:xfrm>
            <a:off x="5667375" y="3705225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EEF4FF"/>
          </a:solidFill>
          <a:ln w="9525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五维评分</a:t>
            </a:r>
          </a:p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稳定排序</a:t>
            </a:r>
          </a:p>
        </p:txBody>
      </p:sp>
      <p:cxnSp>
        <p:nvCxnSpPr>
          <p:cNvPr id="64" name="直接箭头连接符 63"/>
          <p:cNvCxnSpPr>
            <a:stCxn id="17" idx="3"/>
            <a:endCxn id="22" idx="1"/>
          </p:cNvCxnSpPr>
          <p:nvPr/>
        </p:nvCxnSpPr>
        <p:spPr>
          <a:xfrm>
            <a:off x="5238750" y="2362200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5" name="直接箭头连接符 64"/>
          <p:cNvCxnSpPr>
            <a:stCxn id="18" idx="3"/>
            <a:endCxn id="23" idx="1"/>
          </p:cNvCxnSpPr>
          <p:nvPr/>
        </p:nvCxnSpPr>
        <p:spPr>
          <a:xfrm>
            <a:off x="5238750" y="4029075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6" name="直接箭头连接符 65"/>
          <p:cNvCxnSpPr>
            <a:stCxn id="22" idx="2"/>
            <a:endCxn id="23" idx="0"/>
          </p:cNvCxnSpPr>
          <p:nvPr/>
        </p:nvCxnSpPr>
        <p:spPr>
          <a:xfrm>
            <a:off x="6381750" y="2686050"/>
            <a:ext cx="0" cy="1019175"/>
          </a:xfrm>
          <a:prstGeom prst="straightConnector1">
            <a:avLst/>
          </a:prstGeom>
          <a:ln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ABB9784-EA77-4328-AF6D-978D0831654F}"/>
              </a:ext>
            </a:extLst>
          </p:cNvPr>
          <p:cNvSpPr>
            <a:spLocks noGrp="1"/>
          </p:cNvSpPr>
          <p:nvPr/>
        </p:nvSpPr>
        <p:spPr>
          <a:xfrm>
            <a:off x="7524750" y="2038350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生成行动计划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EC34FF9-65D2-4580-B34F-871DD29DE4B0}"/>
              </a:ext>
            </a:extLst>
          </p:cNvPr>
          <p:cNvSpPr>
            <a:spLocks noGrp="1"/>
          </p:cNvSpPr>
          <p:nvPr/>
        </p:nvSpPr>
        <p:spPr>
          <a:xfrm>
            <a:off x="7524750" y="3705225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EEF4FF"/>
          </a:solidFill>
          <a:ln w="9525">
            <a:solidFill>
              <a:srgbClr val="A8BFE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生成阶段任务</a:t>
            </a:r>
          </a:p>
        </p:txBody>
      </p:sp>
      <p:cxnSp>
        <p:nvCxnSpPr>
          <p:cNvPr id="69" name="直接箭头连接符 68"/>
          <p:cNvCxnSpPr>
            <a:stCxn id="22" idx="3"/>
            <a:endCxn id="27" idx="1"/>
          </p:cNvCxnSpPr>
          <p:nvPr/>
        </p:nvCxnSpPr>
        <p:spPr>
          <a:xfrm>
            <a:off x="7096125" y="2362200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0" name="直接箭头连接符 69"/>
          <p:cNvCxnSpPr>
            <a:stCxn id="23" idx="3"/>
            <a:endCxn id="28" idx="1"/>
          </p:cNvCxnSpPr>
          <p:nvPr/>
        </p:nvCxnSpPr>
        <p:spPr>
          <a:xfrm>
            <a:off x="7096125" y="4029075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1" name="直接箭头连接符 70"/>
          <p:cNvCxnSpPr>
            <a:stCxn id="27" idx="2"/>
            <a:endCxn id="28" idx="0"/>
          </p:cNvCxnSpPr>
          <p:nvPr/>
        </p:nvCxnSpPr>
        <p:spPr>
          <a:xfrm>
            <a:off x="8239125" y="2686050"/>
            <a:ext cx="0" cy="1019175"/>
          </a:xfrm>
          <a:prstGeom prst="straightConnector1">
            <a:avLst/>
          </a:prstGeom>
          <a:ln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D3445C-4863-4B18-BB7A-F25C45C6D3BB}"/>
              </a:ext>
            </a:extLst>
          </p:cNvPr>
          <p:cNvSpPr>
            <a:spLocks noGrp="1"/>
          </p:cNvSpPr>
          <p:nvPr/>
        </p:nvSpPr>
        <p:spPr>
          <a:xfrm>
            <a:off x="9382125" y="2038350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咨询并更新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A3C29A7-0669-4EB6-82FB-73A3FDEA2F1C}"/>
              </a:ext>
            </a:extLst>
          </p:cNvPr>
          <p:cNvSpPr>
            <a:spLocks noGrp="1"/>
          </p:cNvSpPr>
          <p:nvPr/>
        </p:nvSpPr>
        <p:spPr>
          <a:xfrm>
            <a:off x="9382125" y="3705225"/>
            <a:ext cx="1428750" cy="647700"/>
          </a:xfrm>
          <a:prstGeom prst="roundRect">
            <a:avLst>
              <a:gd name="adj" fmla="val 7353"/>
            </a:avLst>
          </a:prstGeom>
          <a:solidFill>
            <a:srgbClr val="EAF8F7"/>
          </a:solidFill>
          <a:ln w="9525">
            <a:solidFill>
              <a:srgbClr val="98D0C7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FastGPT 路由</a:t>
            </a:r>
          </a:p>
          <a:p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回答与来源</a:t>
            </a:r>
          </a:p>
        </p:txBody>
      </p:sp>
      <p:cxnSp>
        <p:nvCxnSpPr>
          <p:cNvPr id="74" name="直接箭头连接符 73"/>
          <p:cNvCxnSpPr>
            <a:stCxn id="27" idx="3"/>
            <a:endCxn id="32" idx="1"/>
          </p:cNvCxnSpPr>
          <p:nvPr/>
        </p:nvCxnSpPr>
        <p:spPr>
          <a:xfrm>
            <a:off x="8953500" y="2362200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5" name="直接箭头连接符 74"/>
          <p:cNvCxnSpPr>
            <a:stCxn id="28" idx="3"/>
            <a:endCxn id="33" idx="1"/>
          </p:cNvCxnSpPr>
          <p:nvPr/>
        </p:nvCxnSpPr>
        <p:spPr>
          <a:xfrm>
            <a:off x="8953500" y="4029075"/>
            <a:ext cx="42862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6" name="直接箭头连接符 75"/>
          <p:cNvCxnSpPr>
            <a:stCxn id="32" idx="2"/>
            <a:endCxn id="33" idx="0"/>
          </p:cNvCxnSpPr>
          <p:nvPr/>
        </p:nvCxnSpPr>
        <p:spPr>
          <a:xfrm>
            <a:off x="10096500" y="2686050"/>
            <a:ext cx="0" cy="1019175"/>
          </a:xfrm>
          <a:prstGeom prst="straightConnector1">
            <a:avLst/>
          </a:prstGeom>
          <a:ln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27AAADD-435A-4D71-B982-9A53D0F90450}"/>
              </a:ext>
            </a:extLst>
          </p:cNvPr>
          <p:cNvSpPr>
            <a:spLocks noGrp="1"/>
          </p:cNvSpPr>
          <p:nvPr/>
        </p:nvSpPr>
        <p:spPr>
          <a:xfrm>
            <a:off x="2381250" y="5238750"/>
            <a:ext cx="23812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 fontScale="89019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教师查看授权摘要</a:t>
            </a:r>
          </a:p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提交指导意见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180D825-FF95-4281-9ECC-6970799A1E0B}"/>
              </a:ext>
            </a:extLst>
          </p:cNvPr>
          <p:cNvSpPr>
            <a:spLocks noGrp="1"/>
          </p:cNvSpPr>
          <p:nvPr/>
        </p:nvSpPr>
        <p:spPr>
          <a:xfrm>
            <a:off x="5334000" y="5238750"/>
            <a:ext cx="23812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A8B6C9"/>
            </a:solidFill>
            <a:prstDash val="solid"/>
          </a:ln>
        </p:spPr>
        <p:txBody>
          <a:bodyPr wrap="square" lIns="76200" tIns="57150" rIns="76200" bIns="57150" anchor="ctr">
            <a:normAutofit fontScale="89019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管理员维护账号、岗位</a:t>
            </a:r>
          </a:p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知识资料与审计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46BD0DC-F200-4C35-A512-6347A21F8F4B}"/>
              </a:ext>
            </a:extLst>
          </p:cNvPr>
          <p:cNvSpPr>
            <a:spLocks noGrp="1"/>
          </p:cNvSpPr>
          <p:nvPr/>
        </p:nvSpPr>
        <p:spPr>
          <a:xfrm>
            <a:off x="8286750" y="5238750"/>
            <a:ext cx="2381250" cy="552450"/>
          </a:xfrm>
          <a:prstGeom prst="roundRect">
            <a:avLst>
              <a:gd name="adj" fmla="val 8621"/>
            </a:avLst>
          </a:prstGeom>
          <a:solidFill>
            <a:srgbClr val="FFF6E8"/>
          </a:solidFill>
          <a:ln w="9525">
            <a:solidFill>
              <a:srgbClr val="E3B463"/>
            </a:solidFill>
            <a:prstDash val="solid"/>
          </a:ln>
        </p:spPr>
        <p:txBody>
          <a:bodyPr wrap="square" lIns="76200" tIns="57150" rIns="76200" bIns="57150" anchor="ctr">
            <a:normAutofit fontScale="89019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学生依据意见</a:t>
            </a:r>
          </a:p>
          <a:p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调整行动计划</a:t>
            </a:r>
          </a:p>
        </p:txBody>
      </p:sp>
      <p:cxnSp>
        <p:nvCxnSpPr>
          <p:cNvPr id="80" name="直接箭头连接符 79"/>
          <p:cNvCxnSpPr>
            <a:stCxn id="37" idx="3"/>
            <a:endCxn id="38" idx="1"/>
          </p:cNvCxnSpPr>
          <p:nvPr/>
        </p:nvCxnSpPr>
        <p:spPr>
          <a:xfrm>
            <a:off x="4762500" y="5514975"/>
            <a:ext cx="5715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81" name="直接箭头连接符 80"/>
          <p:cNvCxnSpPr>
            <a:stCxn id="38" idx="3"/>
            <a:endCxn id="39" idx="1"/>
          </p:cNvCxnSpPr>
          <p:nvPr/>
        </p:nvCxnSpPr>
        <p:spPr>
          <a:xfrm>
            <a:off x="7715250" y="5514975"/>
            <a:ext cx="5715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89DF9E18-A7F6-423A-B633-44F07618891E}"/>
              </a:ext>
            </a:extLst>
          </p:cNvPr>
          <p:cNvSpPr>
            <a:spLocks noGrp="1"/>
          </p:cNvSpPr>
          <p:nvPr/>
        </p:nvSpPr>
        <p:spPr>
          <a:xfrm>
            <a:off x="2114550" y="6143625"/>
            <a:ext cx="796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 fontScale="70028"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规则负责评分与筛选，FastGPT 负责知识问答，教师负责专业确认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B7D28F9-B6E0-3946-ADD6-77376764B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4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EE593-3071-490C-9C86-9AA0CCD15D85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系统总体架构与技术路线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BF134-9509-4FBE-9433-F5FF6991A039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34F18573-3598-49C3-B948-CC599126B49A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8279" y="1581150"/>
            <a:ext cx="7495442" cy="4429125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9E74F2-7B27-479F-B55E-A3824C6CF847}"/>
              </a:ext>
            </a:extLst>
          </p:cNvPr>
          <p:cNvSpPr>
            <a:spLocks noGrp="1"/>
          </p:cNvSpPr>
          <p:nvPr/>
        </p:nvSpPr>
        <p:spPr>
          <a:xfrm>
            <a:off x="800100" y="6048375"/>
            <a:ext cx="238125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React + TypeScript + Vite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887AA7F-9772-4E89-A79F-76F8B35FA219}"/>
              </a:ext>
            </a:extLst>
          </p:cNvPr>
          <p:cNvSpPr>
            <a:spLocks noGrp="1"/>
          </p:cNvSpPr>
          <p:nvPr/>
        </p:nvSpPr>
        <p:spPr>
          <a:xfrm>
            <a:off x="3562350" y="6048375"/>
            <a:ext cx="238125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+ SQLAlchemy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ABDD19-F23C-48D4-B49C-1054259E22CE}"/>
              </a:ext>
            </a:extLst>
          </p:cNvPr>
          <p:cNvSpPr>
            <a:spLocks noGrp="1"/>
          </p:cNvSpPr>
          <p:nvPr/>
        </p:nvSpPr>
        <p:spPr>
          <a:xfrm>
            <a:off x="6324600" y="6048375"/>
            <a:ext cx="238125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PostgreSQL + Alembic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C6EA4C-28AF-415A-9905-9D6E76F4B1C2}"/>
              </a:ext>
            </a:extLst>
          </p:cNvPr>
          <p:cNvSpPr>
            <a:spLocks noGrp="1"/>
          </p:cNvSpPr>
          <p:nvPr/>
        </p:nvSpPr>
        <p:spPr>
          <a:xfrm>
            <a:off x="9086850" y="6048375"/>
            <a:ext cx="2381250" cy="323850"/>
          </a:xfrm>
          <a:prstGeom prst="roundRect">
            <a:avLst>
              <a:gd name="adj" fmla="val 1764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FastGPT + REST API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C2C28C-CBD7-6370-80AE-8D01312119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D983CD-BF96-43C8-984A-8675C22BD51F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智能体设计：职责分工与判断边界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7D913D-885B-4C70-8682-F3F242FE537B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E4A4104A-D287-4255-BAFD-EA31E089E86C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9C82DC-B3E6-4907-B7E9-61C5C63F056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952750" cy="1000125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4288">
            <a:solidFill>
              <a:srgbClr val="9FB8E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岗位过滤、五维评分、稳定排序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A8A5EB3-E20F-41AB-8AC0-D4ED9A94118B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2952750" cy="1000125"/>
          </a:xfrm>
          <a:prstGeom prst="roundRect">
            <a:avLst>
              <a:gd name="adj" fmla="val 6667"/>
            </a:avLst>
          </a:prstGeom>
          <a:solidFill>
            <a:srgbClr val="EAF8F7"/>
          </a:solidFill>
          <a:ln w="14288">
            <a:solidFill>
              <a:srgbClr val="8CCFC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FastGPT</a:t>
            </a: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职业发展与就业政策问答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EC91C8-7AC4-4AA3-9974-FD8C2D88CC0D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2952750" cy="1000125"/>
          </a:xfrm>
          <a:prstGeom prst="roundRect">
            <a:avLst>
              <a:gd name="adj" fmla="val 6667"/>
            </a:avLst>
          </a:prstGeom>
          <a:solidFill>
            <a:srgbClr val="FFF6E8"/>
          </a:solidFill>
          <a:ln w="14288">
            <a:solidFill>
              <a:srgbClr val="E7B666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就业指导教师</a:t>
            </a: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复核个体情况并给出专业意见</a:t>
            </a:r>
          </a:p>
        </p:txBody>
      </p:sp>
      <p:cxnSp>
        <p:nvCxnSpPr>
          <p:cNvPr id="25" name="直接箭头连接符 24"/>
          <p:cNvCxnSpPr>
            <a:stCxn id="8" idx="3"/>
            <a:endCxn id="9" idx="1"/>
          </p:cNvCxnSpPr>
          <p:nvPr/>
        </p:nvCxnSpPr>
        <p:spPr>
          <a:xfrm>
            <a:off x="3714750" y="2452688"/>
            <a:ext cx="90487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26" name="直接箭头连接符 25"/>
          <p:cNvCxnSpPr>
            <a:stCxn id="9" idx="3"/>
            <a:endCxn id="10" idx="1"/>
          </p:cNvCxnSpPr>
          <p:nvPr/>
        </p:nvCxnSpPr>
        <p:spPr>
          <a:xfrm>
            <a:off x="7572375" y="2452688"/>
            <a:ext cx="904875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D8D6BBC-3EE3-4B12-8B63-C73E47F2CA74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保证推荐可解释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55F77B-AEFB-4703-A95A-7C1D0B905CB7}"/>
              </a:ext>
            </a:extLst>
          </p:cNvPr>
          <p:cNvSpPr>
            <a:spLocks noGrp="1"/>
          </p:cNvSpPr>
          <p:nvPr/>
        </p:nvSpPr>
        <p:spPr>
          <a:xfrm>
            <a:off x="4962525" y="35242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提升咨询服务效率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ADE49E2-D166-48D3-9B5D-22FA78CCB06E}"/>
              </a:ext>
            </a:extLst>
          </p:cNvPr>
          <p:cNvSpPr>
            <a:spLocks noGrp="1"/>
          </p:cNvSpPr>
          <p:nvPr/>
        </p:nvSpPr>
        <p:spPr>
          <a:xfrm>
            <a:off x="8820150" y="3524250"/>
            <a:ext cx="2266950" cy="323850"/>
          </a:xfrm>
          <a:prstGeom prst="roundRect">
            <a:avLst>
              <a:gd name="adj" fmla="val 17647"/>
            </a:avLst>
          </a:prstGeom>
          <a:solidFill>
            <a:srgbClr val="E18B2C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保留最终专业判断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B7780E-C4A1-49B9-A57C-D4E6627AE8E1}"/>
              </a:ext>
            </a:extLst>
          </p:cNvPr>
          <p:cNvSpPr>
            <a:spLocks noGrp="1"/>
          </p:cNvSpPr>
          <p:nvPr/>
        </p:nvSpPr>
        <p:spPr>
          <a:xfrm>
            <a:off x="1333500" y="4333875"/>
            <a:ext cx="9525000" cy="1257300"/>
          </a:xfrm>
          <a:prstGeom prst="roundRect">
            <a:avLst>
              <a:gd name="adj" fmla="val 5303"/>
            </a:avLst>
          </a:prstGeom>
          <a:solidFill>
            <a:srgbClr val="F6F9FF"/>
          </a:solidFill>
          <a:ln w="9525">
            <a:solidFill>
              <a:srgbClr val="CDD9EA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最小数据原则</a:t>
            </a:r>
          </a:p>
          <a:p>
            <a:pPr algn="ctr">
              <a:lnSpc>
                <a:spcPct val="125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前端仅提交问题与可控应用标识，FastGPT 不直接访问 PostgreSQL 业务数据库。API Key 保留在服务端，错误信息和原始上游响应不向前端透传。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52B150E-2190-7C9F-DDD7-5CC848775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845472-3821-4575-B37E-6216700E70B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可解释岗位匹配模型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B6A1E8-8B08-45BC-BD8D-F64A776753B6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070902F1-CF37-44A4-8250-3554936F7BA2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51669-680F-4ED5-B81C-236C8EBE02E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固定权重，总分 100 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1567AC-5CB2-42AF-8DDB-FEF84F501872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9525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技能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E2DD0F-1D34-4E21-B1BC-8A6F3AE642F3}"/>
              </a:ext>
            </a:extLst>
          </p:cNvPr>
          <p:cNvSpPr>
            <a:spLocks noGrp="1"/>
          </p:cNvSpPr>
          <p:nvPr/>
        </p:nvSpPr>
        <p:spPr>
          <a:xfrm>
            <a:off x="1924050" y="2362200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7A3F91-488F-469A-B1B6-805A4BB033F7}"/>
              </a:ext>
            </a:extLst>
          </p:cNvPr>
          <p:cNvSpPr>
            <a:spLocks noGrp="1"/>
          </p:cNvSpPr>
          <p:nvPr/>
        </p:nvSpPr>
        <p:spPr>
          <a:xfrm>
            <a:off x="1924050" y="2362200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190B0B-0939-4E87-9C76-EC2F2D8681F7}"/>
              </a:ext>
            </a:extLst>
          </p:cNvPr>
          <p:cNvSpPr>
            <a:spLocks noGrp="1"/>
          </p:cNvSpPr>
          <p:nvPr/>
        </p:nvSpPr>
        <p:spPr>
          <a:xfrm>
            <a:off x="5334000" y="23241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50分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FFC807-DCB9-457C-A64A-EB7047535F83}"/>
              </a:ext>
            </a:extLst>
          </p:cNvPr>
          <p:cNvSpPr>
            <a:spLocks noGrp="1"/>
          </p:cNvSpPr>
          <p:nvPr/>
        </p:nvSpPr>
        <p:spPr>
          <a:xfrm>
            <a:off x="742950" y="296227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9525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6170EFE-F2E1-425C-BA52-EEFB71553DEF}"/>
              </a:ext>
            </a:extLst>
          </p:cNvPr>
          <p:cNvSpPr>
            <a:spLocks noGrp="1"/>
          </p:cNvSpPr>
          <p:nvPr/>
        </p:nvSpPr>
        <p:spPr>
          <a:xfrm>
            <a:off x="1924050" y="3000375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D73ED6-BFB1-42E6-90B7-AAA22909C688}"/>
              </a:ext>
            </a:extLst>
          </p:cNvPr>
          <p:cNvSpPr>
            <a:spLocks noGrp="1"/>
          </p:cNvSpPr>
          <p:nvPr/>
        </p:nvSpPr>
        <p:spPr>
          <a:xfrm>
            <a:off x="1924050" y="3000375"/>
            <a:ext cx="1333500" cy="304800"/>
          </a:xfrm>
          <a:prstGeom prst="roundRect">
            <a:avLst>
              <a:gd name="adj" fmla="val 15625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8B4EC3-7937-4F7E-95C3-4F412629DEA8}"/>
              </a:ext>
            </a:extLst>
          </p:cNvPr>
          <p:cNvSpPr>
            <a:spLocks noGrp="1"/>
          </p:cNvSpPr>
          <p:nvPr/>
        </p:nvSpPr>
        <p:spPr>
          <a:xfrm>
            <a:off x="5334000" y="29622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20分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D9CA6E-C006-491F-9F44-299D79D95946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9525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45E1FED-95B9-43CC-8CD7-CA919F03C61F}"/>
              </a:ext>
            </a:extLst>
          </p:cNvPr>
          <p:cNvSpPr>
            <a:spLocks noGrp="1"/>
          </p:cNvSpPr>
          <p:nvPr/>
        </p:nvSpPr>
        <p:spPr>
          <a:xfrm>
            <a:off x="1924050" y="3638550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CCF119A-F608-4E30-AAA1-EAA38990C59C}"/>
              </a:ext>
            </a:extLst>
          </p:cNvPr>
          <p:cNvSpPr>
            <a:spLocks noGrp="1"/>
          </p:cNvSpPr>
          <p:nvPr/>
        </p:nvSpPr>
        <p:spPr>
          <a:xfrm>
            <a:off x="1924050" y="3638550"/>
            <a:ext cx="1000125" cy="304800"/>
          </a:xfrm>
          <a:prstGeom prst="roundRect">
            <a:avLst>
              <a:gd name="adj" fmla="val 15625"/>
            </a:avLst>
          </a:prstGeom>
          <a:solidFill>
            <a:srgbClr val="1683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1E426A-1643-4D23-B44D-0467D09EA249}"/>
              </a:ext>
            </a:extLst>
          </p:cNvPr>
          <p:cNvSpPr>
            <a:spLocks noGrp="1"/>
          </p:cNvSpPr>
          <p:nvPr/>
        </p:nvSpPr>
        <p:spPr>
          <a:xfrm>
            <a:off x="5334000" y="36004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15分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D1CA82-692C-4F49-B63B-6485F9D9AC51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9525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目标岗位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B87D7AA-9A34-49C8-819A-025BFA7A8126}"/>
              </a:ext>
            </a:extLst>
          </p:cNvPr>
          <p:cNvSpPr>
            <a:spLocks noGrp="1"/>
          </p:cNvSpPr>
          <p:nvPr/>
        </p:nvSpPr>
        <p:spPr>
          <a:xfrm>
            <a:off x="1924050" y="4276725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5EBBF18-A07E-4713-BDCE-8B9204BCAB99}"/>
              </a:ext>
            </a:extLst>
          </p:cNvPr>
          <p:cNvSpPr>
            <a:spLocks noGrp="1"/>
          </p:cNvSpPr>
          <p:nvPr/>
        </p:nvSpPr>
        <p:spPr>
          <a:xfrm>
            <a:off x="1924050" y="4276725"/>
            <a:ext cx="666750" cy="304800"/>
          </a:xfrm>
          <a:prstGeom prst="roundRect">
            <a:avLst>
              <a:gd name="adj" fmla="val 15625"/>
            </a:avLst>
          </a:prstGeom>
          <a:solidFill>
            <a:srgbClr val="E18B2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CAFAA1-871B-442D-8A23-C1BE3E0C9C1F}"/>
              </a:ext>
            </a:extLst>
          </p:cNvPr>
          <p:cNvSpPr>
            <a:spLocks noGrp="1"/>
          </p:cNvSpPr>
          <p:nvPr/>
        </p:nvSpPr>
        <p:spPr>
          <a:xfrm>
            <a:off x="5334000" y="42386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rPr>
              <a:t>10分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CD94DB-B567-4A61-9E12-9A909CBAD580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9525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城市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30D4D9F-ABA8-4F79-881D-953AA4289078}"/>
              </a:ext>
            </a:extLst>
          </p:cNvPr>
          <p:cNvSpPr>
            <a:spLocks noGrp="1"/>
          </p:cNvSpPr>
          <p:nvPr/>
        </p:nvSpPr>
        <p:spPr>
          <a:xfrm>
            <a:off x="1924050" y="4914900"/>
            <a:ext cx="3333750" cy="304800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2B92E28-2997-4011-8DCF-3CB2C2651609}"/>
              </a:ext>
            </a:extLst>
          </p:cNvPr>
          <p:cNvSpPr>
            <a:spLocks noGrp="1"/>
          </p:cNvSpPr>
          <p:nvPr/>
        </p:nvSpPr>
        <p:spPr>
          <a:xfrm>
            <a:off x="1924050" y="4914900"/>
            <a:ext cx="333375" cy="304800"/>
          </a:xfrm>
          <a:prstGeom prst="roundRect">
            <a:avLst>
              <a:gd name="adj" fmla="val 15625"/>
            </a:avLst>
          </a:prstGeom>
          <a:solidFill>
            <a:srgbClr val="C94D5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E276A5-37AF-4F94-A40E-950E878E0147}"/>
              </a:ext>
            </a:extLst>
          </p:cNvPr>
          <p:cNvSpPr>
            <a:spLocks noGrp="1"/>
          </p:cNvSpPr>
          <p:nvPr/>
        </p:nvSpPr>
        <p:spPr>
          <a:xfrm>
            <a:off x="5334000" y="48768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rPr>
              <a:t>5分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B31B41F-E54A-40EC-8770-60337B7EB0B9}"/>
              </a:ext>
            </a:extLst>
          </p:cNvPr>
          <p:cNvSpPr>
            <a:spLocks noGrp="1"/>
          </p:cNvSpPr>
          <p:nvPr/>
        </p:nvSpPr>
        <p:spPr>
          <a:xfrm>
            <a:off x="6743700" y="1828800"/>
            <a:ext cx="3981450" cy="323850"/>
          </a:xfrm>
          <a:prstGeom prst="roundRect">
            <a:avLst>
              <a:gd name="adj" fmla="val 17647"/>
            </a:avLst>
          </a:prstGeom>
          <a:solidFill>
            <a:srgbClr val="173568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进入评分前的硬性过滤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3ECF5B1-1273-4A58-A29D-83FAA31BC700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4057650" cy="1714500"/>
          </a:xfrm>
          <a:prstGeom prst="roundRect">
            <a:avLst>
              <a:gd name="adj" fmla="val 3333"/>
            </a:avLst>
          </a:prstGeom>
          <a:solidFill>
            <a:srgbClr val="F6F9FF"/>
          </a:solidFill>
          <a:ln w="9525">
            <a:solidFill>
              <a:srgbClr val="CBD8E9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仅使用已发布且未过期岗位</a:t>
            </a:r>
          </a:p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岗位必须具有有效来源或明确标识为演示数据</a:t>
            </a:r>
          </a:p>
          <a:p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相同分数采用固定次序，保证结果稳定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D020CE3-F343-4B5D-BF9B-D048B1854E11}"/>
              </a:ext>
            </a:extLst>
          </p:cNvPr>
          <p:cNvSpPr>
            <a:spLocks noGrp="1"/>
          </p:cNvSpPr>
          <p:nvPr/>
        </p:nvSpPr>
        <p:spPr>
          <a:xfrm>
            <a:off x="6743700" y="4362450"/>
            <a:ext cx="3981450" cy="323850"/>
          </a:xfrm>
          <a:prstGeom prst="roundRect">
            <a:avLst>
              <a:gd name="adj" fmla="val 1764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结果解释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154FFC0-0CAD-49D2-8262-0772D80E194D}"/>
              </a:ext>
            </a:extLst>
          </p:cNvPr>
          <p:cNvSpPr>
            <a:spLocks noGrp="1"/>
          </p:cNvSpPr>
          <p:nvPr/>
        </p:nvSpPr>
        <p:spPr>
          <a:xfrm>
            <a:off x="6705600" y="4905375"/>
            <a:ext cx="4057650" cy="857250"/>
          </a:xfrm>
          <a:prstGeom prst="roundRect">
            <a:avLst>
              <a:gd name="adj" fmla="val 6667"/>
            </a:avLst>
          </a:prstGeom>
          <a:solidFill>
            <a:srgbClr val="EAF8F7"/>
          </a:solidFill>
          <a:ln w="9525">
            <a:solidFill>
              <a:srgbClr val="A8D7D0"/>
            </a:solidFill>
            <a:prstDash val="solid"/>
          </a:ln>
        </p:spPr>
        <p:txBody>
          <a:bodyPr wrap="square" lIns="76200" tIns="57150" rIns="76200" bIns="57150" anchor="ctr">
            <a:normAutofit fontScale="97062"/>
          </a:bodyPr>
          <a:lstStyle/>
          <a:p>
            <a:pPr algn="ctr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同时返回分项得分、能力缺口和岗位来源。行动计划只基于真实缺口生成，不编造录用结论。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5735998-CDF0-3EF7-A8DA-A77FFEFB8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ACDA86-A15B-4F21-8122-8D49C45EC074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FastGPT 双路问答与安全降级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F92509-F2AF-42B3-AD57-9117B05418FA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73F8D8F9-AF9A-4F69-8F12-5672E8218A2B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73DA47-F3F4-4481-992C-742AC5FAD92D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000250" cy="781050"/>
          </a:xfrm>
          <a:prstGeom prst="roundRect">
            <a:avLst>
              <a:gd name="adj" fmla="val 7317"/>
            </a:avLst>
          </a:prstGeom>
          <a:solidFill>
            <a:srgbClr val="EEF4FF"/>
          </a:solidFill>
          <a:ln w="13335">
            <a:solidFill>
              <a:srgbClr val="9FB8E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8ED999-6CBE-4F3A-8263-1176CB89DFCB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2381250" cy="781050"/>
          </a:xfrm>
          <a:prstGeom prst="roundRect">
            <a:avLst>
              <a:gd name="adj" fmla="val 7317"/>
            </a:avLst>
          </a:prstGeom>
          <a:solidFill>
            <a:srgbClr val="EAF8F7"/>
          </a:solidFill>
          <a:ln w="13335">
            <a:solidFill>
              <a:srgbClr val="8CCFC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服务端路由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37AC3DE-B804-456D-8305-4332939FA2E9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2266950" cy="685800"/>
          </a:xfrm>
          <a:prstGeom prst="roundRect">
            <a:avLst>
              <a:gd name="adj" fmla="val 8333"/>
            </a:avLst>
          </a:prstGeom>
          <a:solidFill>
            <a:srgbClr val="F3F6FF"/>
          </a:solidFill>
          <a:ln w="11430">
            <a:solidFill>
              <a:srgbClr val="AFC1E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职业发展应用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EF9A6F-94F8-4D70-8513-FD7CAD9ECBF6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2266950" cy="685800"/>
          </a:xfrm>
          <a:prstGeom prst="roundRect">
            <a:avLst>
              <a:gd name="adj" fmla="val 8333"/>
            </a:avLst>
          </a:prstGeom>
          <a:solidFill>
            <a:srgbClr val="F0FAF8"/>
          </a:solidFill>
          <a:ln w="11430">
            <a:solidFill>
              <a:srgbClr val="A3D5CC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就业政策应用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8AEDF4C-CE37-46A4-92C5-81A93FA3A7FF}"/>
              </a:ext>
            </a:extLst>
          </p:cNvPr>
          <p:cNvSpPr>
            <a:spLocks noGrp="1"/>
          </p:cNvSpPr>
          <p:nvPr/>
        </p:nvSpPr>
        <p:spPr>
          <a:xfrm>
            <a:off x="9810750" y="1952625"/>
            <a:ext cx="1714500" cy="781050"/>
          </a:xfrm>
          <a:prstGeom prst="roundRect">
            <a:avLst>
              <a:gd name="adj" fmla="val 7317"/>
            </a:avLst>
          </a:prstGeom>
          <a:solidFill>
            <a:srgbClr val="FFF6E8"/>
          </a:solidFill>
          <a:ln w="11430">
            <a:solidFill>
              <a:srgbClr val="E5B765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文本回答</a:t>
            </a:r>
          </a:p>
        </p:txBody>
      </p:sp>
      <p:cxnSp>
        <p:nvCxnSpPr>
          <p:cNvPr id="34" name="直接箭头连接符 33"/>
          <p:cNvCxnSpPr>
            <a:stCxn id="8" idx="3"/>
            <a:endCxn id="9" idx="1"/>
          </p:cNvCxnSpPr>
          <p:nvPr/>
        </p:nvCxnSpPr>
        <p:spPr>
          <a:xfrm>
            <a:off x="2667000" y="2343150"/>
            <a:ext cx="762000" cy="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5" name="直接箭头连接符 34"/>
          <p:cNvCxnSpPr>
            <a:stCxn id="9" idx="3"/>
            <a:endCxn id="10" idx="1"/>
          </p:cNvCxnSpPr>
          <p:nvPr/>
        </p:nvCxnSpPr>
        <p:spPr>
          <a:xfrm flipV="1">
            <a:off x="5810250" y="2009775"/>
            <a:ext cx="1047750" cy="333375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6" name="直接箭头连接符 35"/>
          <p:cNvCxnSpPr>
            <a:stCxn id="9" idx="3"/>
            <a:endCxn id="11" idx="1"/>
          </p:cNvCxnSpPr>
          <p:nvPr/>
        </p:nvCxnSpPr>
        <p:spPr>
          <a:xfrm>
            <a:off x="5810250" y="2343150"/>
            <a:ext cx="1047750" cy="5715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7" name="直接箭头连接符 36"/>
          <p:cNvCxnSpPr>
            <a:stCxn id="10" idx="3"/>
            <a:endCxn id="12" idx="1"/>
          </p:cNvCxnSpPr>
          <p:nvPr/>
        </p:nvCxnSpPr>
        <p:spPr>
          <a:xfrm>
            <a:off x="9124950" y="2009775"/>
            <a:ext cx="685800" cy="333375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8" name="直接箭头连接符 37"/>
          <p:cNvCxnSpPr>
            <a:stCxn id="11" idx="3"/>
            <a:endCxn id="12" idx="1"/>
          </p:cNvCxnSpPr>
          <p:nvPr/>
        </p:nvCxnSpPr>
        <p:spPr>
          <a:xfrm flipV="1">
            <a:off x="9124950" y="2343150"/>
            <a:ext cx="685800" cy="5715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D647083-2E66-4FC5-BD27-D2A627197747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2400300" cy="323850"/>
          </a:xfrm>
          <a:prstGeom prst="roundRect">
            <a:avLst>
              <a:gd name="adj" fmla="val 17647"/>
            </a:avLst>
          </a:prstGeom>
          <a:solidFill>
            <a:srgbClr val="16836D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有结构化来源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DACB97-6EB1-459B-9EA6-482EC42EAB5A}"/>
              </a:ext>
            </a:extLst>
          </p:cNvPr>
          <p:cNvSpPr>
            <a:spLocks noGrp="1"/>
          </p:cNvSpPr>
          <p:nvPr/>
        </p:nvSpPr>
        <p:spPr>
          <a:xfrm>
            <a:off x="3829050" y="3886200"/>
            <a:ext cx="685800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3DDEA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显示完整回答与来源链接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BE9BBFE-20EE-4A4F-8789-56BFEDFC63D5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2400300" cy="323850"/>
          </a:xfrm>
          <a:prstGeom prst="roundRect">
            <a:avLst>
              <a:gd name="adj" fmla="val 17647"/>
            </a:avLst>
          </a:prstGeom>
          <a:solidFill>
            <a:srgbClr val="E18B2C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无结构化来源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07CF26-8587-4A1C-88DD-ABAC4A2781AE}"/>
              </a:ext>
            </a:extLst>
          </p:cNvPr>
          <p:cNvSpPr>
            <a:spLocks noGrp="1"/>
          </p:cNvSpPr>
          <p:nvPr/>
        </p:nvSpPr>
        <p:spPr>
          <a:xfrm>
            <a:off x="3829050" y="4572000"/>
            <a:ext cx="685800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3DDEA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保留回答，同时提示人工确认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4893E2A-FBFF-416D-BBBC-8685BE380957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2400300" cy="323850"/>
          </a:xfrm>
          <a:prstGeom prst="roundRect">
            <a:avLst>
              <a:gd name="adj" fmla="val 17647"/>
            </a:avLst>
          </a:prstGeom>
          <a:solidFill>
            <a:srgbClr val="C94D5C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超时或响应异常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FA038C8-2E21-4A30-A346-2F9BAE7F1AB6}"/>
              </a:ext>
            </a:extLst>
          </p:cNvPr>
          <p:cNvSpPr>
            <a:spLocks noGrp="1"/>
          </p:cNvSpPr>
          <p:nvPr/>
        </p:nvSpPr>
        <p:spPr>
          <a:xfrm>
            <a:off x="3829050" y="5257800"/>
            <a:ext cx="685800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3DDEA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返回稳定降级提示，不暴露上游错误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4E634D8-9767-335B-8732-F55D6B586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F6ADF0-F766-47C5-8D49-BDDFDBD09BD7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数据模型与权限边界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7DD8CF-607D-43FD-B368-E2D4588D7691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A7C04825-EE19-4B9E-BE19-5F8E32A69EFE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1A1F1A6-45EE-49ED-96EB-346A56276AB4}"/>
              </a:ext>
            </a:extLst>
          </p:cNvPr>
          <p:cNvSpPr>
            <a:spLocks noGrp="1"/>
          </p:cNvSpPr>
          <p:nvPr/>
        </p:nvSpPr>
        <p:spPr>
          <a:xfrm>
            <a:off x="4552950" y="1657350"/>
            <a:ext cx="30861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PK id · username · role · status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218033A-2055-4E12-9B5D-720E0EE65375}"/>
              </a:ext>
            </a:extLst>
          </p:cNvPr>
          <p:cNvSpPr>
            <a:spLocks noGrp="1"/>
          </p:cNvSpPr>
          <p:nvPr/>
        </p:nvSpPr>
        <p:spPr>
          <a:xfrm>
            <a:off x="4552950" y="1657350"/>
            <a:ext cx="3086100" cy="266700"/>
          </a:xfrm>
          <a:prstGeom prst="roundRect">
            <a:avLst>
              <a:gd name="adj" fmla="val 17857"/>
            </a:avLst>
          </a:prstGeom>
          <a:solidFill>
            <a:srgbClr val="173568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CAF701-12CF-441C-AD02-DC367E78912E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72415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user_id · major · skills · target_role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3C75F-2011-45B4-B467-FA43036E09C5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career_profiles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CA6A90-C955-4A2D-B14A-6B7268859BBC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272415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title · required_skills · source · status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7B0A63C-6FE0-482F-B0AD-FFA82E4FD890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job_postings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6958F00-1445-4A15-A596-FB556293462C}"/>
              </a:ext>
            </a:extLst>
          </p:cNvPr>
          <p:cNvSpPr>
            <a:spLocks noGrp="1"/>
          </p:cNvSpPr>
          <p:nvPr/>
        </p:nvSpPr>
        <p:spPr>
          <a:xfrm>
            <a:off x="4724400" y="2971800"/>
            <a:ext cx="2724150" cy="9144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profile_id · FK job_id · score · gaps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0A086B1-EDA4-4BC6-8420-1B2E0D8A2307}"/>
              </a:ext>
            </a:extLst>
          </p:cNvPr>
          <p:cNvSpPr>
            <a:spLocks noGrp="1"/>
          </p:cNvSpPr>
          <p:nvPr/>
        </p:nvSpPr>
        <p:spPr>
          <a:xfrm>
            <a:off x="4724400" y="297180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match_results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133D3F-3C5D-42BE-93A8-FC3751B471CB}"/>
              </a:ext>
            </a:extLst>
          </p:cNvPr>
          <p:cNvSpPr>
            <a:spLocks noGrp="1"/>
          </p:cNvSpPr>
          <p:nvPr/>
        </p:nvSpPr>
        <p:spPr>
          <a:xfrm>
            <a:off x="4724400" y="4629150"/>
            <a:ext cx="272415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student_id · FK match_id · tasks · status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A5F3CD2-C35A-4445-BA8E-56BF1F0F82D6}"/>
              </a:ext>
            </a:extLst>
          </p:cNvPr>
          <p:cNvSpPr>
            <a:spLocks noGrp="1"/>
          </p:cNvSpPr>
          <p:nvPr/>
        </p:nvSpPr>
        <p:spPr>
          <a:xfrm>
            <a:off x="4724400" y="462915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16836D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action_plans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93CAF6-10DB-4F0E-95BE-AA19F50C7E46}"/>
              </a:ext>
            </a:extLst>
          </p:cNvPr>
          <p:cNvSpPr>
            <a:spLocks noGrp="1"/>
          </p:cNvSpPr>
          <p:nvPr/>
        </p:nvSpPr>
        <p:spPr>
          <a:xfrm>
            <a:off x="8610600" y="2628900"/>
            <a:ext cx="272415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counselor_id · FK student_id · UNIQUE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6FE2587-CDAD-4809-A0E5-786C0459D44D}"/>
              </a:ext>
            </a:extLst>
          </p:cNvPr>
          <p:cNvSpPr>
            <a:spLocks noGrp="1"/>
          </p:cNvSpPr>
          <p:nvPr/>
        </p:nvSpPr>
        <p:spPr>
          <a:xfrm>
            <a:off x="8610600" y="262890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counselor_student_access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2CA89F4-99E1-40D0-B130-CE48BB023CC3}"/>
              </a:ext>
            </a:extLst>
          </p:cNvPr>
          <p:cNvSpPr>
            <a:spLocks noGrp="1"/>
          </p:cNvSpPr>
          <p:nvPr/>
        </p:nvSpPr>
        <p:spPr>
          <a:xfrm>
            <a:off x="8610600" y="4095750"/>
            <a:ext cx="272415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teacher_id · FK student_id · FK plan_id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4AD72C-BBB1-4F53-B8FA-39314CEEF746}"/>
              </a:ext>
            </a:extLst>
          </p:cNvPr>
          <p:cNvSpPr>
            <a:spLocks noGrp="1"/>
          </p:cNvSpPr>
          <p:nvPr/>
        </p:nvSpPr>
        <p:spPr>
          <a:xfrm>
            <a:off x="8610600" y="409575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E18B2C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teacher_advice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B99CF9A-0E7F-4808-8B36-4AFD213BF5D5}"/>
              </a:ext>
            </a:extLst>
          </p:cNvPr>
          <p:cNvSpPr>
            <a:spLocks noGrp="1"/>
          </p:cNvSpPr>
          <p:nvPr/>
        </p:nvSpPr>
        <p:spPr>
          <a:xfrm>
            <a:off x="8610600" y="5391150"/>
            <a:ext cx="272415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1430">
            <a:solidFill>
              <a:srgbClr val="AAB9CF"/>
            </a:solidFill>
            <a:prstDash val="solid"/>
          </a:ln>
        </p:spPr>
        <p:txBody>
          <a:bodyPr wrap="square" lIns="114300" tIns="47625" rIns="76200" bIns="47625" anchor="ctr">
            <a:normAutofit/>
          </a:bodyPr>
          <a:lstStyle/>
          <a:p>
            <a:endParaRPr/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actor_id · action · resource · metadata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027F7EF-F006-473F-B2DC-45059F9BFFB3}"/>
              </a:ext>
            </a:extLst>
          </p:cNvPr>
          <p:cNvSpPr>
            <a:spLocks noGrp="1"/>
          </p:cNvSpPr>
          <p:nvPr/>
        </p:nvSpPr>
        <p:spPr>
          <a:xfrm>
            <a:off x="8610600" y="5391150"/>
            <a:ext cx="2724150" cy="266700"/>
          </a:xfrm>
          <a:prstGeom prst="roundRect">
            <a:avLst>
              <a:gd name="adj" fmla="val 17857"/>
            </a:avLst>
          </a:prstGeom>
          <a:solidFill>
            <a:srgbClr val="C94D5C"/>
          </a:solidFill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audit_events</a:t>
            </a:r>
          </a:p>
        </p:txBody>
      </p:sp>
      <p:cxnSp>
        <p:nvCxnSpPr>
          <p:cNvPr id="53" name="直接箭头连接符 52"/>
          <p:cNvCxnSpPr>
            <a:stCxn id="8" idx="1"/>
            <a:endCxn id="10" idx="0"/>
          </p:cNvCxnSpPr>
          <p:nvPr/>
        </p:nvCxnSpPr>
        <p:spPr>
          <a:xfrm flipH="1">
            <a:off x="2085975" y="2019300"/>
            <a:ext cx="2466975" cy="70485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4" name="直接箭头连接符 53"/>
          <p:cNvCxnSpPr>
            <a:stCxn id="10" idx="3"/>
            <a:endCxn id="14" idx="1"/>
          </p:cNvCxnSpPr>
          <p:nvPr/>
        </p:nvCxnSpPr>
        <p:spPr>
          <a:xfrm>
            <a:off x="3448050" y="3143250"/>
            <a:ext cx="1276350" cy="28575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5" name="直接箭头连接符 54"/>
          <p:cNvCxnSpPr>
            <a:stCxn id="12" idx="3"/>
            <a:endCxn id="14" idx="1"/>
          </p:cNvCxnSpPr>
          <p:nvPr/>
        </p:nvCxnSpPr>
        <p:spPr>
          <a:xfrm flipV="1">
            <a:off x="3448050" y="3429000"/>
            <a:ext cx="1276350" cy="1419225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6" name="直接箭头连接符 55"/>
          <p:cNvCxnSpPr>
            <a:stCxn id="14" idx="2"/>
            <a:endCxn id="16" idx="0"/>
          </p:cNvCxnSpPr>
          <p:nvPr/>
        </p:nvCxnSpPr>
        <p:spPr>
          <a:xfrm>
            <a:off x="6086475" y="3886200"/>
            <a:ext cx="0" cy="74295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7" name="直接箭头连接符 56"/>
          <p:cNvCxnSpPr>
            <a:stCxn id="8" idx="3"/>
            <a:endCxn id="18" idx="1"/>
          </p:cNvCxnSpPr>
          <p:nvPr/>
        </p:nvCxnSpPr>
        <p:spPr>
          <a:xfrm>
            <a:off x="7639050" y="2019300"/>
            <a:ext cx="971550" cy="10287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8" name="直接箭头连接符 57"/>
          <p:cNvCxnSpPr>
            <a:stCxn id="18" idx="2"/>
            <a:endCxn id="20" idx="0"/>
          </p:cNvCxnSpPr>
          <p:nvPr/>
        </p:nvCxnSpPr>
        <p:spPr>
          <a:xfrm>
            <a:off x="9972675" y="3467100"/>
            <a:ext cx="0" cy="62865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9" name="直接箭头连接符 58"/>
          <p:cNvCxnSpPr>
            <a:stCxn id="16" idx="3"/>
            <a:endCxn id="20" idx="1"/>
          </p:cNvCxnSpPr>
          <p:nvPr/>
        </p:nvCxnSpPr>
        <p:spPr>
          <a:xfrm flipV="1">
            <a:off x="7448550" y="4514850"/>
            <a:ext cx="1162050" cy="533400"/>
          </a:xfrm>
          <a:prstGeom prst="straightConnector1">
            <a:avLst/>
          </a:prstGeom>
          <a:ln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8BFC564-3F93-4A2C-A48C-EF594B6D0038}"/>
              </a:ext>
            </a:extLst>
          </p:cNvPr>
          <p:cNvSpPr>
            <a:spLocks noGrp="1"/>
          </p:cNvSpPr>
          <p:nvPr/>
        </p:nvSpPr>
        <p:spPr>
          <a:xfrm>
            <a:off x="1676400" y="6181725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 fontScale="70028"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核心业务数据留在 PostgreSQL。FastGPT 不直接读取画像、匹配结果或教师意见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75DDB1B-EE11-617D-CB26-97A9B0309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DED63-40D3-4A59-9ED7-73C921065026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应用效果：真实工作台界面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D1605D-320D-455C-999F-17CB4C2DCF0E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584FD482-24DB-4571-9607-0A5828C3F0F0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19293" b="19293"/>
          <a:stretch>
            <a:fillRect/>
          </a:stretch>
        </p:blipFill>
        <p:spPr>
          <a:xfrm>
            <a:off x="552450" y="1695450"/>
            <a:ext cx="5238750" cy="1809750"/>
          </a:xfrm>
          <a:prstGeom prst="roundRect">
            <a:avLst>
              <a:gd name="adj" fmla="val 3158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C76E8D4-4838-4A23-87D9-BDBB7CDAA21C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账号登录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19293" b="19293"/>
          <a:stretch>
            <a:fillRect/>
          </a:stretch>
        </p:blipFill>
        <p:spPr>
          <a:xfrm>
            <a:off x="6153150" y="1695450"/>
            <a:ext cx="5238750" cy="1809750"/>
          </a:xfrm>
          <a:prstGeom prst="roundRect">
            <a:avLst>
              <a:gd name="adj" fmla="val 3158"/>
            </a:avLst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E994631-6A67-41CC-B3C1-3328656760BD}"/>
              </a:ext>
            </a:extLst>
          </p:cNvPr>
          <p:cNvSpPr>
            <a:spLocks noGrp="1"/>
          </p:cNvSpPr>
          <p:nvPr/>
        </p:nvSpPr>
        <p:spPr>
          <a:xfrm>
            <a:off x="6153150" y="35433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学生账号注册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rcRect t="19293" b="19293"/>
          <a:stretch>
            <a:fillRect/>
          </a:stretch>
        </p:blipFill>
        <p:spPr>
          <a:xfrm>
            <a:off x="552450" y="4095750"/>
            <a:ext cx="5238750" cy="1809750"/>
          </a:xfrm>
          <a:prstGeom prst="roundRect">
            <a:avLst>
              <a:gd name="adj" fmla="val 3158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21303C1-B3E0-4734-B9C0-254708B43BDA}"/>
              </a:ext>
            </a:extLst>
          </p:cNvPr>
          <p:cNvSpPr>
            <a:spLocks noGrp="1"/>
          </p:cNvSpPr>
          <p:nvPr/>
        </p:nvSpPr>
        <p:spPr>
          <a:xfrm>
            <a:off x="552450" y="59436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管理员岗位资料台账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rcRect t="25127" b="25127"/>
          <a:stretch>
            <a:fillRect/>
          </a:stretch>
        </p:blipFill>
        <p:spPr>
          <a:xfrm>
            <a:off x="6153150" y="4095750"/>
            <a:ext cx="5238750" cy="1809750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E01A8C1-CA24-45E0-A43A-E55EDD5AC308}"/>
              </a:ext>
            </a:extLst>
          </p:cNvPr>
          <p:cNvSpPr>
            <a:spLocks noGrp="1"/>
          </p:cNvSpPr>
          <p:nvPr/>
        </p:nvSpPr>
        <p:spPr>
          <a:xfrm>
            <a:off x="6153150" y="59436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学生端工作台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C17F78-C90A-4CA1-7FD2-D7020E131C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AA5607-B596-4CEA-0F5F-200EA76F45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0" y="4085352"/>
            <a:ext cx="5238750" cy="17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noGrp="1"/>
          </p:cNvSpPr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noGrp="1"/>
          </p:cNvSpPr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5887EB-C89A-47B2-B584-86D63BCCD9B7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测试结果与应用价值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104437-D4B5-4F54-A085-B8E885C079BC}"/>
              </a:ext>
            </a:extLst>
          </p:cNvPr>
          <p:cNvSpPr>
            <a:spLocks noGrp="1"/>
          </p:cNvSpPr>
          <p:nvPr/>
        </p:nvSpPr>
        <p:spPr>
          <a:xfrm>
            <a:off x="9953625" y="981075"/>
            <a:ext cx="1571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754B9A7E-6565-4608-9701-A86B57B161E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34700" cy="0"/>
          </a:xfrm>
          <a:prstGeom prst="line">
            <a:avLst/>
          </a:prstGeom>
          <a:noFill/>
          <a:ln w="9525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0A3278-3D2F-4D8D-A0BF-D90D66491549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381250" cy="800100"/>
          </a:xfrm>
          <a:prstGeom prst="roundRect">
            <a:avLst>
              <a:gd name="adj" fmla="val 7143"/>
            </a:avLst>
          </a:prstGeom>
          <a:solidFill>
            <a:srgbClr val="F6F9FF"/>
          </a:solidFill>
          <a:ln w="9525">
            <a:solidFill>
              <a:srgbClr val="D2DDE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51 / 51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8A4C49-8A1B-4B70-91B2-3023BF8174C0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4B0275-3474-49A7-B4BA-9AC49C53255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81250" cy="800100"/>
          </a:xfrm>
          <a:prstGeom prst="roundRect">
            <a:avLst>
              <a:gd name="adj" fmla="val 7143"/>
            </a:avLst>
          </a:prstGeom>
          <a:solidFill>
            <a:srgbClr val="F6F9FF"/>
          </a:solidFill>
          <a:ln w="9525">
            <a:solidFill>
              <a:srgbClr val="D2DDE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3 类角色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536AD5-9CD1-489E-8F08-3763195758C9}"/>
              </a:ext>
            </a:extLst>
          </p:cNvPr>
          <p:cNvSpPr>
            <a:spLocks noGrp="1"/>
          </p:cNvSpPr>
          <p:nvPr/>
        </p:nvSpPr>
        <p:spPr>
          <a:xfrm>
            <a:off x="3486150" y="2657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核心业务流程已验证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5B2FBC-42F2-402D-9260-3EC3CD73DB5C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2381250" cy="800100"/>
          </a:xfrm>
          <a:prstGeom prst="roundRect">
            <a:avLst>
              <a:gd name="adj" fmla="val 7143"/>
            </a:avLst>
          </a:prstGeom>
          <a:solidFill>
            <a:srgbClr val="F6F9FF"/>
          </a:solidFill>
          <a:ln w="9525">
            <a:solidFill>
              <a:srgbClr val="D2DDE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EF8564-650F-4E21-97CC-8B944DBB04CA}"/>
              </a:ext>
            </a:extLst>
          </p:cNvPr>
          <p:cNvSpPr>
            <a:spLocks noGrp="1"/>
          </p:cNvSpPr>
          <p:nvPr/>
        </p:nvSpPr>
        <p:spPr>
          <a:xfrm>
            <a:off x="6286500" y="2657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越权访问被服务端拒绝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DC8D38-4AA9-4FB0-9E8E-10A66A86BB63}"/>
              </a:ext>
            </a:extLst>
          </p:cNvPr>
          <p:cNvSpPr>
            <a:spLocks noGrp="1"/>
          </p:cNvSpPr>
          <p:nvPr/>
        </p:nvSpPr>
        <p:spPr>
          <a:xfrm>
            <a:off x="9086850" y="1790700"/>
            <a:ext cx="2381250" cy="800100"/>
          </a:xfrm>
          <a:prstGeom prst="roundRect">
            <a:avLst>
              <a:gd name="adj" fmla="val 7143"/>
            </a:avLst>
          </a:prstGeom>
          <a:solidFill>
            <a:srgbClr val="F6F9FF"/>
          </a:solidFill>
          <a:ln w="9525">
            <a:solidFill>
              <a:srgbClr val="D2DDE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8D1F0-AD4B-4A9D-BF57-36BE2CB1C1AB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前端构建与静态检查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EBFCDA4-A613-4D12-8194-0E6C10BF1BB4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1524000" cy="323850"/>
          </a:xfrm>
          <a:prstGeom prst="roundRect">
            <a:avLst>
              <a:gd name="adj" fmla="val 17647"/>
            </a:avLst>
          </a:prstGeom>
          <a:solidFill>
            <a:srgbClr val="2457D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8A02A8-7480-40CA-B3E6-B15F0C11F088}"/>
              </a:ext>
            </a:extLst>
          </p:cNvPr>
          <p:cNvSpPr>
            <a:spLocks noGrp="1"/>
          </p:cNvSpPr>
          <p:nvPr/>
        </p:nvSpPr>
        <p:spPr>
          <a:xfrm>
            <a:off x="3009900" y="3638550"/>
            <a:ext cx="786765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4DEEB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明确岗位方向和能力缺口，形成可执行计划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791EA9-943D-48FE-8601-3E6645D2C3BC}"/>
              </a:ext>
            </a:extLst>
          </p:cNvPr>
          <p:cNvSpPr>
            <a:spLocks noGrp="1"/>
          </p:cNvSpPr>
          <p:nvPr/>
        </p:nvSpPr>
        <p:spPr>
          <a:xfrm>
            <a:off x="1123950" y="4419600"/>
            <a:ext cx="1524000" cy="323850"/>
          </a:xfrm>
          <a:prstGeom prst="roundRect">
            <a:avLst>
              <a:gd name="adj" fmla="val 17647"/>
            </a:avLst>
          </a:prstGeom>
          <a:solidFill>
            <a:srgbClr val="13A6C6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75F2E62-02C8-436C-91E5-ACDE067D23B7}"/>
              </a:ext>
            </a:extLst>
          </p:cNvPr>
          <p:cNvSpPr>
            <a:spLocks noGrp="1"/>
          </p:cNvSpPr>
          <p:nvPr/>
        </p:nvSpPr>
        <p:spPr>
          <a:xfrm>
            <a:off x="3009900" y="4419600"/>
            <a:ext cx="786765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4DEEB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减少重复咨询，把时间用于个体问题和专业判断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406EE7F-72E7-451E-B919-30C0CB2D2885}"/>
              </a:ext>
            </a:extLst>
          </p:cNvPr>
          <p:cNvSpPr>
            <a:spLocks noGrp="1"/>
          </p:cNvSpPr>
          <p:nvPr/>
        </p:nvSpPr>
        <p:spPr>
          <a:xfrm>
            <a:off x="1123950" y="5200650"/>
            <a:ext cx="1524000" cy="323850"/>
          </a:xfrm>
          <a:prstGeom prst="roundRect">
            <a:avLst>
              <a:gd name="adj" fmla="val 17647"/>
            </a:avLst>
          </a:prstGeom>
          <a:solidFill>
            <a:srgbClr val="16836D"/>
          </a:solidFill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F0C4CFB-4780-4B03-B85A-FBC2B38C84E4}"/>
              </a:ext>
            </a:extLst>
          </p:cNvPr>
          <p:cNvSpPr>
            <a:spLocks noGrp="1"/>
          </p:cNvSpPr>
          <p:nvPr/>
        </p:nvSpPr>
        <p:spPr>
          <a:xfrm>
            <a:off x="3009900" y="5200650"/>
            <a:ext cx="7867650" cy="323850"/>
          </a:xfrm>
          <a:prstGeom prst="roundRect">
            <a:avLst>
              <a:gd name="adj" fmla="val 14706"/>
            </a:avLst>
          </a:prstGeom>
          <a:solidFill>
            <a:srgbClr val="F6F9FF"/>
          </a:solidFill>
          <a:ln w="9525">
            <a:solidFill>
              <a:srgbClr val="D4DEEB"/>
            </a:solidFill>
            <a:prstDash val="solid"/>
          </a:ln>
        </p:spPr>
        <p:txBody>
          <a:bodyPr wrap="square" lIns="76200" tIns="57150" rIns="76200" bIns="57150" anchor="ctr">
            <a:normAutofit fontScale="70949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沉淀可追溯的就业指导流程、授权和审计记录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263DCB-E49C-43CB-BF48-1685945BD42B}"/>
              </a:ext>
            </a:extLst>
          </p:cNvPr>
          <p:cNvSpPr>
            <a:spLocks noGrp="1"/>
          </p:cNvSpPr>
          <p:nvPr/>
        </p:nvSpPr>
        <p:spPr>
          <a:xfrm>
            <a:off x="1562100" y="6038850"/>
            <a:ext cx="906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说明：以上为本地测试与演示环境结果，外部 FastGPT 生产应用需在部署环境继续验收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9B36C04-70CA-159F-7C08-A9598FFCD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056"/>
            <a:ext cx="2895600" cy="81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3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E870C121-199E-4DC1-95F7-871C71270A02}"/>
              </a:ext>
            </a:extLst>
          </p:cNvPr>
          <p:cNvSpPr>
            <a:spLocks noGrp="1"/>
          </p:cNvSpPr>
          <p:nvPr/>
        </p:nvSpPr>
        <p:spPr>
          <a:xfrm>
            <a:off x="1988002" y="2663992"/>
            <a:ext cx="8214725" cy="14325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规则可解释  模型提效率  教师作确认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5C0C49-C69F-4D89-AE1E-AF8B61726EA4}"/>
              </a:ext>
            </a:extLst>
          </p:cNvPr>
          <p:cNvSpPr>
            <a:spLocks noGrp="1"/>
          </p:cNvSpPr>
          <p:nvPr/>
        </p:nvSpPr>
        <p:spPr>
          <a:xfrm>
            <a:off x="3209925" y="4026535"/>
            <a:ext cx="577151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THANK YOU</a:t>
            </a:r>
          </a:p>
          <a:p>
            <a:pPr algn="ctr">
              <a:buNone/>
            </a:pP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FB0A54-587D-4C03-ACDA-F521AF5F6E5D}"/>
              </a:ext>
            </a:extLst>
          </p:cNvPr>
          <p:cNvSpPr>
            <a:spLocks noGrp="1"/>
          </p:cNvSpPr>
          <p:nvPr/>
        </p:nvSpPr>
        <p:spPr>
          <a:xfrm>
            <a:off x="10013950" y="316230"/>
            <a:ext cx="2178050" cy="3683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62755E-ECF5-6F20-2C89-BF1A8466E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617" y="0"/>
            <a:ext cx="3583383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2965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541</Words>
  <Application>Microsoft Office PowerPoint</Application>
  <DocSecurity>0</DocSecurity>
  <PresentationFormat>宽屏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微软雅黑</vt:lpstr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 capability</cp:lastModifiedBy>
  <cp:revision>3</cp:revision>
  <dcterms:created xsi:type="dcterms:W3CDTF">2026-09-14T10:32:34Z</dcterms:created>
  <dcterms:modified xsi:type="dcterms:W3CDTF">2026-09-14T11:17:42Z</dcterms:modified>
</cp:coreProperties>
</file>
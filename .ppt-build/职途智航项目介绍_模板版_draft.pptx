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77b68ee6554a99" /><Relationship Type="http://schemas.openxmlformats.org/officeDocument/2006/relationships/extended-properties" Target="/docProps/app.xml" Id="R3a10b9ef925940e8" /><Relationship Type="http://schemas.openxmlformats.org/officeDocument/2006/relationships/officeDocument" Target="/ppt/presentation.xml" Id="Re7875368c80a4c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05f27c432c4d66"/>
  </p:sldMasterIdLst>
  <p:notesMasterIdLst>
    <p:notesMasterId xmlns:r="http://schemas.openxmlformats.org/officeDocument/2006/relationships" r:id="Rde534b1aff754994"/>
  </p:notesMasterIdLst>
  <p:sldIdLst>
    <p:sldId xmlns:r="http://schemas.openxmlformats.org/officeDocument/2006/relationships" id="256" r:id="Ra1c5f48ed25e4b9a"/>
    <p:sldId xmlns:r="http://schemas.openxmlformats.org/officeDocument/2006/relationships" id="257" r:id="R9a48d860cc9541b3"/>
    <p:sldId xmlns:r="http://schemas.openxmlformats.org/officeDocument/2006/relationships" id="258" r:id="R0fc9cbb32404447e"/>
    <p:sldId xmlns:r="http://schemas.openxmlformats.org/officeDocument/2006/relationships" id="259" r:id="Rd035dd73b6c545c6"/>
    <p:sldId xmlns:r="http://schemas.openxmlformats.org/officeDocument/2006/relationships" id="260" r:id="Rfa6fb39ea1df4ec6"/>
    <p:sldId xmlns:r="http://schemas.openxmlformats.org/officeDocument/2006/relationships" id="261" r:id="R7a0d81528c3840aa"/>
    <p:sldId xmlns:r="http://schemas.openxmlformats.org/officeDocument/2006/relationships" id="262" r:id="Rf4b901b22ae54189"/>
    <p:sldId xmlns:r="http://schemas.openxmlformats.org/officeDocument/2006/relationships" id="263" r:id="R95d50eedadbb410a"/>
    <p:sldId xmlns:r="http://schemas.openxmlformats.org/officeDocument/2006/relationships" id="264" r:id="R2c8ed5021eb74748"/>
    <p:sldId xmlns:r="http://schemas.openxmlformats.org/officeDocument/2006/relationships" id="265" r:id="Rc438b470e3ac4763"/>
    <p:sldId xmlns:r="http://schemas.openxmlformats.org/officeDocument/2006/relationships" id="266" r:id="R1a96b6f757524b53"/>
    <p:sldId xmlns:r="http://schemas.openxmlformats.org/officeDocument/2006/relationships" id="267" r:id="R3130920ac4bc4813"/>
    <p:sldId xmlns:r="http://schemas.openxmlformats.org/officeDocument/2006/relationships" id="268" r:id="R984b369defbc431b"/>
    <p:sldId xmlns:r="http://schemas.openxmlformats.org/officeDocument/2006/relationships" id="269" r:id="Ra4ea7c9011164238"/>
    <p:sldId xmlns:r="http://schemas.openxmlformats.org/officeDocument/2006/relationships" id="270" r:id="R7c139ba6198148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c65d1cb97044fe" /><Relationship Type="http://schemas.openxmlformats.org/officeDocument/2006/relationships/slideMaster" Target="/ppt/slideMasters/slideMaster1.xml" Id="Rd805f27c432c4d66" /><Relationship Type="http://schemas.openxmlformats.org/officeDocument/2006/relationships/notesMaster" Target="/ppt/notesMasters/notesMaster1.xml" Id="Rde534b1aff754994" /><Relationship Type="http://schemas.openxmlformats.org/officeDocument/2006/relationships/presProps" Target="/ppt/presProps.xml" Id="R20a1fb4cce5e456d" /><Relationship Type="http://schemas.openxmlformats.org/officeDocument/2006/relationships/viewProps" Target="/ppt/viewProps.xml" Id="Rb09a9eef26874115" /><Relationship Type="http://schemas.openxmlformats.org/officeDocument/2006/relationships/tableStyles" Target="/ppt/tableStyles.xml" Id="R5a0d5b2d3d894798" /><Relationship Type="http://schemas.openxmlformats.org/officeDocument/2006/relationships/slide" Target="/ppt/slides/slide1.xml" Id="Ra1c5f48ed25e4b9a" /><Relationship Type="http://schemas.openxmlformats.org/officeDocument/2006/relationships/slide" Target="/ppt/slides/slide2.xml" Id="R9a48d860cc9541b3" /><Relationship Type="http://schemas.openxmlformats.org/officeDocument/2006/relationships/slide" Target="/ppt/slides/slide3.xml" Id="R0fc9cbb32404447e" /><Relationship Type="http://schemas.openxmlformats.org/officeDocument/2006/relationships/slide" Target="/ppt/slides/slide4.xml" Id="Rd035dd73b6c545c6" /><Relationship Type="http://schemas.openxmlformats.org/officeDocument/2006/relationships/slide" Target="/ppt/slides/slide5.xml" Id="Rfa6fb39ea1df4ec6" /><Relationship Type="http://schemas.openxmlformats.org/officeDocument/2006/relationships/slide" Target="/ppt/slides/slide6.xml" Id="R7a0d81528c3840aa" /><Relationship Type="http://schemas.openxmlformats.org/officeDocument/2006/relationships/slide" Target="/ppt/slides/slide7.xml" Id="Rf4b901b22ae54189" /><Relationship Type="http://schemas.openxmlformats.org/officeDocument/2006/relationships/slide" Target="/ppt/slides/slide8.xml" Id="R95d50eedadbb410a" /><Relationship Type="http://schemas.openxmlformats.org/officeDocument/2006/relationships/slide" Target="/ppt/slides/slide9.xml" Id="R2c8ed5021eb74748" /><Relationship Type="http://schemas.openxmlformats.org/officeDocument/2006/relationships/slide" Target="/ppt/slides/slide10.xml" Id="Rc438b470e3ac4763" /><Relationship Type="http://schemas.openxmlformats.org/officeDocument/2006/relationships/slide" Target="/ppt/slides/slide11.xml" Id="R1a96b6f757524b53" /><Relationship Type="http://schemas.openxmlformats.org/officeDocument/2006/relationships/slide" Target="/ppt/slides/slide12.xml" Id="R3130920ac4bc4813" /><Relationship Type="http://schemas.openxmlformats.org/officeDocument/2006/relationships/slide" Target="/ppt/slides/slide13.xml" Id="R984b369defbc431b" /><Relationship Type="http://schemas.openxmlformats.org/officeDocument/2006/relationships/slide" Target="/ppt/slides/slide14.xml" Id="Ra4ea7c9011164238" /><Relationship Type="http://schemas.openxmlformats.org/officeDocument/2006/relationships/slide" Target="/ppt/slides/slide15.xml" Id="R7c139ba6198148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d6fada54dc4e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cdc3fb423048ef" /><Relationship Type="http://schemas.openxmlformats.org/officeDocument/2006/relationships/notesMaster" Target="/ppt/notesMasters/notesMaster1.xml" Id="R535415db2ef74f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61a0b4377c452c" /><Relationship Type="http://schemas.openxmlformats.org/officeDocument/2006/relationships/notesMaster" Target="/ppt/notesMasters/notesMaster1.xml" Id="R4b6026d631914b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1335fdd29347e8" /><Relationship Type="http://schemas.openxmlformats.org/officeDocument/2006/relationships/notesMaster" Target="/ppt/notesMasters/notesMaster1.xml" Id="R65750a1a867e4f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79b5ac789a461d" /><Relationship Type="http://schemas.openxmlformats.org/officeDocument/2006/relationships/notesMaster" Target="/ppt/notesMasters/notesMaster1.xml" Id="Rc0412e2bc9e14b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ff45c177614553" /><Relationship Type="http://schemas.openxmlformats.org/officeDocument/2006/relationships/notesMaster" Target="/ppt/notesMasters/notesMaster1.xml" Id="R64a29880448443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df8572710841ce" /><Relationship Type="http://schemas.openxmlformats.org/officeDocument/2006/relationships/notesMaster" Target="/ppt/notesMasters/notesMaster1.xml" Id="Rf1747cecfbf349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f8b54ec3944eea" /><Relationship Type="http://schemas.openxmlformats.org/officeDocument/2006/relationships/notesMaster" Target="/ppt/notesMasters/notesMaster1.xml" Id="R534edd7012be40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74e134dd4f4470" /><Relationship Type="http://schemas.openxmlformats.org/officeDocument/2006/relationships/notesMaster" Target="/ppt/notesMasters/notesMaster1.xml" Id="Rf628fe40e77845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85f78e995c44dd" /><Relationship Type="http://schemas.openxmlformats.org/officeDocument/2006/relationships/notesMaster" Target="/ppt/notesMasters/notesMaster1.xml" Id="Rc39e4cf5263d4a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c4b5eed6d44772" /><Relationship Type="http://schemas.openxmlformats.org/officeDocument/2006/relationships/notesMaster" Target="/ppt/notesMasters/notesMaster1.xml" Id="R1cbd55635b274e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119339bf464999" /><Relationship Type="http://schemas.openxmlformats.org/officeDocument/2006/relationships/notesMaster" Target="/ppt/notesMasters/notesMaster1.xml" Id="Rdaf08698b46540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9b44a008a64c6c" /><Relationship Type="http://schemas.openxmlformats.org/officeDocument/2006/relationships/notesMaster" Target="/ppt/notesMasters/notesMaster1.xml" Id="Rbe1a7638ea9843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73c9d0941b43bf" /><Relationship Type="http://schemas.openxmlformats.org/officeDocument/2006/relationships/notesMaster" Target="/ppt/notesMasters/notesMaster1.xml" Id="Reec08f35aa8943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4421ba49104240" /><Relationship Type="http://schemas.openxmlformats.org/officeDocument/2006/relationships/notesMaster" Target="/ppt/notesMasters/notesMaster1.xml" Id="R62ebd6aacf2a48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aca3f869154f39" /><Relationship Type="http://schemas.openxmlformats.org/officeDocument/2006/relationships/notesMaster" Target="/ppt/notesMasters/notesMaster1.xml" Id="R096496ff09b845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开场介绍项目名称和服务对象。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说明本次汇报的五个部分。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团队采用职责分工方式展示，成员姓名可在提交前补充。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用一句话说明项目定位，再介绍完整业务闭环和边界。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强调三类角色共用一套服务端权限模型。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从真实痛点出发，逐项对应系统需求和可验证结果。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按学生主流程讲解，并说明教师与管理员如何进入闭环。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说明前后端分离架构、业务数据库和 FastGPT 的数据边界。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强调规则、模型、教师各自承担不同判断职责。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解释岗位匹配权重、硬性过滤和结果可解释性。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说明职业与政策双路问答，以及有来源、无来源和异常三种处理。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介绍核心实体和授权关系，强调最小数据原则。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展示真实工作台页面，说明三角色界面与治理能力。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汇报本地测试证据和面向学生、教师、学校的应用价值。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结束语：以规则保证可解释，以模型提升服务效率，以教师保留最终专业判断。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c644bcfd045d9" /><Relationship Type="http://schemas.openxmlformats.org/officeDocument/2006/relationships/image" Target="/ppt/media/image3.jpeg" Id="Rd6e0da7eb58a46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8838be3c04e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7f84dec7948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50cb503e445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1ab88487c40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40bca253f4c1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5427f557d492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B591698-4A05-4CE7-9618-EB3D0E87A90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2E1D65C-565D-44CE-B3B8-0BC416BB14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pic>
        <p:nvPicPr>
          <p:cNvPr id="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0da7eb58a4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-1270"/>
            <a:ext cx="12191365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23EB3F0-9292-4B21-9034-DD1828116D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55350F8-8326-4508-BD04-5231B00E4B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FF54EB4-25EB-4462-B41A-063238977B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397600"/>
            <a:ext cx="9799200" cy="11052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33FA023F-AE69-4AEC-AA3D-5B170C07185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5040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6690584beb8d4156" /><Relationship Type="http://schemas.openxmlformats.org/officeDocument/2006/relationships/image" Target="/ppt/media/image2.jpeg" Id="Rbfb4d19fd50b4ad0" /><Relationship Type="http://schemas.openxmlformats.org/officeDocument/2006/relationships/theme" Target="/ppt/slideMasters/theme/theme2.xml" Id="Rd8dcf5fa952a41f9" /><Relationship Type="http://schemas.openxmlformats.org/officeDocument/2006/relationships/slideLayout" Target="/ppt/slideLayouts/slideLayout1.xml" Id="R0e32a50c3b89472c" /><Relationship Type="http://schemas.openxmlformats.org/officeDocument/2006/relationships/slideLayout" Target="/ppt/slideLayouts/slideLayout2.xml" Id="R6b9bddfc27904c91" /><Relationship Type="http://schemas.openxmlformats.org/officeDocument/2006/relationships/slideLayout" Target="/ppt/slideLayouts/slideLayout3.xml" Id="R57a15839f8b546b4" /><Relationship Type="http://schemas.openxmlformats.org/officeDocument/2006/relationships/slideLayout" Target="/ppt/slideLayouts/slideLayout4.xml" Id="Re232d8f8034a401c" /><Relationship Type="http://schemas.openxmlformats.org/officeDocument/2006/relationships/slideLayout" Target="/ppt/slideLayouts/slideLayout5.xml" Id="R728bc6a83e2f458a" /><Relationship Type="http://schemas.openxmlformats.org/officeDocument/2006/relationships/slideLayout" Target="/ppt/slideLayouts/slideLayout6.xml" Id="Rab5c5bee25bc4ea6" /><Relationship Type="http://schemas.openxmlformats.org/officeDocument/2006/relationships/slideLayout" Target="/ppt/slideLayouts/slideLayout7.xml" Id="R9ae922fa180645c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620D52-8D0A-4EA2-9CEC-84D0DB520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417AEE6-A0C6-414B-94B9-0E715F08BC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5E15696-B4C3-47E3-A926-A25639CF2F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fld id="{760FBDFE-C587-4B4C-A407-44438C67B59E}" type="datetimeFigureOut">
              <a:t>2026/9/14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DEFAB5-F931-4BC8-AE5F-1FD7FE6B5A6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0B8C9D-C046-4F0E-845F-6C527D9ED2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fld id="{49AE70B2-8BF9-45C0-BB95-33D1B9D3A854}" type="slidenum">
              <a:t>‹#›</a:t>
            </a:fld>
            <a:endParaRPr/>
          </a:p>
        </p:txBody>
      </p:sp>
      <p:pic>
        <p:nvPicPr>
          <p:cNvPr id="14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0584beb8d4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7365"/>
          </a:xfrm>
          <a:prstGeom xmlns:a="http://schemas.openxmlformats.org/drawingml/2006/main" prst="rect">
            <a:avLst/>
          </a:prstGeom>
        </p:spPr>
      </p:pic>
      <p:pic>
        <p:nvPicPr>
          <p:cNvPr id="1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4d19fd50b4a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71945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32a50c3b89472c"/>
    <p:sldLayoutId xmlns:r="http://schemas.openxmlformats.org/officeDocument/2006/relationships" id="2147483650" r:id="R6b9bddfc27904c91"/>
    <p:sldLayoutId xmlns:r="http://schemas.openxmlformats.org/officeDocument/2006/relationships" id="2147483651" r:id="R57a15839f8b546b4"/>
    <p:sldLayoutId xmlns:r="http://schemas.openxmlformats.org/officeDocument/2006/relationships" id="2147483652" r:id="Re232d8f8034a401c"/>
    <p:sldLayoutId xmlns:r="http://schemas.openxmlformats.org/officeDocument/2006/relationships" id="2147483653" r:id="R728bc6a83e2f458a"/>
    <p:sldLayoutId xmlns:r="http://schemas.openxmlformats.org/officeDocument/2006/relationships" id="2147483654" r:id="Rab5c5bee25bc4ea6"/>
    <p:sldLayoutId xmlns:r="http://schemas.openxmlformats.org/officeDocument/2006/relationships" id="2147483655" r:id="R9ae922fa180645c7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17a2f794f441c" /><Relationship Type="http://schemas.openxmlformats.org/officeDocument/2006/relationships/notesSlide" Target="/ppt/notesSlides/notesSlide1.xml" Id="Rd1f8aa2cd1324c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a869dc458f4e9e" /><Relationship Type="http://schemas.openxmlformats.org/officeDocument/2006/relationships/notesSlide" Target="/ppt/notesSlides/notesSlide2.xml" Id="R53791013b7b34c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9b86644edb46d9" /><Relationship Type="http://schemas.openxmlformats.org/officeDocument/2006/relationships/notesSlide" Target="/ppt/notesSlides/notesSlide3.xml" Id="R032d9ad2761b42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c5445bbf9a49b2" /><Relationship Type="http://schemas.openxmlformats.org/officeDocument/2006/relationships/notesSlide" Target="/ppt/notesSlides/notesSlide4.xml" Id="R3b852c6721534d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4e39fd278d498c" /><Relationship Type="http://schemas.openxmlformats.org/officeDocument/2006/relationships/notesSlide" Target="/ppt/notesSlides/notesSlide5.xml" Id="Rce521368d9d64a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61dc51a55f4772" /><Relationship Type="http://schemas.openxmlformats.org/officeDocument/2006/relationships/notesSlide" Target="/ppt/notesSlides/notesSlide6.xml" Id="R2f37608c6b384e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06fe103d034ef9" /><Relationship Type="http://schemas.openxmlformats.org/officeDocument/2006/relationships/notesSlide" Target="/ppt/notesSlides/notesSlide7.xml" Id="R2bd6366e602041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502e2107f94da5" /><Relationship Type="http://schemas.openxmlformats.org/officeDocument/2006/relationships/image" Target="/ppt/media/image.png" Id="R7ae8b09125904fdc" /><Relationship Type="http://schemas.openxmlformats.org/officeDocument/2006/relationships/notesSlide" Target="/ppt/notesSlides/notesSlide8.xml" Id="R46688a59450f4c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683e9697a54bac" /><Relationship Type="http://schemas.openxmlformats.org/officeDocument/2006/relationships/notesSlide" Target="/ppt/notesSlides/notesSlide9.xml" Id="R6c1b2104851645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70226252124646" /><Relationship Type="http://schemas.openxmlformats.org/officeDocument/2006/relationships/notesSlide" Target="/ppt/notesSlides/notesSlide10.xml" Id="Ra3bed5a99a9b44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e31efd75e94942" /><Relationship Type="http://schemas.openxmlformats.org/officeDocument/2006/relationships/notesSlide" Target="/ppt/notesSlides/notesSlide11.xml" Id="Rcec40ed8596a48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92330bcb4c4734" /><Relationship Type="http://schemas.openxmlformats.org/officeDocument/2006/relationships/notesSlide" Target="/ppt/notesSlides/notesSlide12.xml" Id="R94f9fd0488f140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57e05707ff47f9" /><Relationship Type="http://schemas.openxmlformats.org/officeDocument/2006/relationships/image" Target="/ppt/media/image2.png" Id="R5da6b5078d634319" /><Relationship Type="http://schemas.openxmlformats.org/officeDocument/2006/relationships/image" Target="/ppt/media/image3.png" Id="Rbd11bfc3bbdf49cf" /><Relationship Type="http://schemas.openxmlformats.org/officeDocument/2006/relationships/image" Target="/ppt/media/image4.png" Id="R01af557c42ca4beb" /><Relationship Type="http://schemas.openxmlformats.org/officeDocument/2006/relationships/image" Target="/ppt/media/image5.png" Id="R52da0700f9894cbe" /><Relationship Type="http://schemas.openxmlformats.org/officeDocument/2006/relationships/notesSlide" Target="/ppt/notesSlides/notesSlide13.xml" Id="R4ffafc1355d449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bd618fa955470b" /><Relationship Type="http://schemas.openxmlformats.org/officeDocument/2006/relationships/notesSlide" Target="/ppt/notesSlides/notesSlide14.xml" Id="Rc070a8932c484e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a6014983f4b47" /><Relationship Type="http://schemas.openxmlformats.org/officeDocument/2006/relationships/notesSlide" Target="/ppt/notesSlides/notesSlide15.xml" Id="R864c35a56a204f37" /></Relationships>
</file>

<file path=ppt/slides/slide1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4358D0DC-2C13-4544-9B14-AB8F7C3E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22805"/>
            <a:ext cx="7582535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18AF5B8-6CA3-40C2-919F-866A88B6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4230370"/>
            <a:ext cx="7575550" cy="748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高校就业择业规划智能体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参赛团队：职途智航项目组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7C938A5-F9C8-46AE-8F7F-EB2D3422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50" y="316230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</p:spTree>
    <p:extLst>
      <p:ext uri="{BB962C8B-B14F-4D97-AF65-F5344CB8AC3E}">
        <p14:creationId xmlns:p14="http://schemas.microsoft.com/office/powerpoint/2010/main" val="16598825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6F67A88C-5E22-4A77-8CC3-433DD89F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0111" y="4094333"/>
            <a:ext cx="2481192" cy="5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2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9E90250F-5EDC-4F79-A29D-33C65CD2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48251" y="2574850"/>
            <a:ext cx="1313180" cy="144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目</a:t>
            </a: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676FF054-8651-46CC-88B3-495624BD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0707" y="2986337"/>
            <a:ext cx="1031051" cy="1107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66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录</a:t>
            </a:r>
          </a:p>
        </p:txBody>
      </p:sp>
      <p:sp>
        <p:nvSpPr>
          <p:cNvPr id="28" name="序号">
            <a:extLst xmlns:a="http://schemas.openxmlformats.org/drawingml/2006/main">
              <a:ext uri="{FF2B5EF4-FFF2-40B4-BE49-F238E27FC236}">
                <a16:creationId xmlns:a16="http://schemas.microsoft.com/office/drawing/2014/main" id="{95AF054B-9187-4ABE-A1DD-FDD30E5D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385" y="1437005"/>
            <a:ext cx="625475" cy="625475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3600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9" name="项标题">
            <a:extLst xmlns:a="http://schemas.openxmlformats.org/drawingml/2006/main">
              <a:ext uri="{FF2B5EF4-FFF2-40B4-BE49-F238E27FC236}">
                <a16:creationId xmlns:a16="http://schemas.microsoft.com/office/drawing/2014/main" id="{6DB5AA37-B810-4639-BCE9-EF1D1D70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333" y="1564899"/>
            <a:ext cx="3775001" cy="4647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spc="300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团队介绍</a:t>
            </a:r>
          </a:p>
        </p:txBody>
      </p:sp>
      <p:sp>
        <p:nvSpPr>
          <p:cNvPr id="30" name="序号">
            <a:extLst xmlns:a="http://schemas.openxmlformats.org/drawingml/2006/main">
              <a:ext uri="{FF2B5EF4-FFF2-40B4-BE49-F238E27FC236}">
                <a16:creationId xmlns:a16="http://schemas.microsoft.com/office/drawing/2014/main" id="{B70FFEAD-E3F3-4FBA-96FC-2CC21CAD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385" y="2351405"/>
            <a:ext cx="625475" cy="625475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1" name="项标题">
            <a:extLst xmlns:a="http://schemas.openxmlformats.org/drawingml/2006/main">
              <a:ext uri="{FF2B5EF4-FFF2-40B4-BE49-F238E27FC236}">
                <a16:creationId xmlns:a16="http://schemas.microsoft.com/office/drawing/2014/main" id="{8A982B05-2CB4-41B9-96E4-E33B9E6B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333" y="2479453"/>
            <a:ext cx="3775001" cy="4647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spc="300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作品介绍</a:t>
            </a:r>
          </a:p>
        </p:txBody>
      </p:sp>
      <p:sp>
        <p:nvSpPr>
          <p:cNvPr id="32" name="序号">
            <a:extLst xmlns:a="http://schemas.openxmlformats.org/drawingml/2006/main">
              <a:ext uri="{FF2B5EF4-FFF2-40B4-BE49-F238E27FC236}">
                <a16:creationId xmlns:a16="http://schemas.microsoft.com/office/drawing/2014/main" id="{083CADF4-EC03-4D27-885D-5984CE57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385" y="3265805"/>
            <a:ext cx="625475" cy="625475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3" name="项标题">
            <a:extLst xmlns:a="http://schemas.openxmlformats.org/drawingml/2006/main">
              <a:ext uri="{FF2B5EF4-FFF2-40B4-BE49-F238E27FC236}">
                <a16:creationId xmlns:a16="http://schemas.microsoft.com/office/drawing/2014/main" id="{910507B1-BC82-482D-9EBA-5CCCC555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333" y="3393420"/>
            <a:ext cx="3775001" cy="4647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spc="300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需求分析</a:t>
            </a:r>
          </a:p>
        </p:txBody>
      </p:sp>
      <p:sp>
        <p:nvSpPr>
          <p:cNvPr id="34" name="序号">
            <a:extLst xmlns:a="http://schemas.openxmlformats.org/drawingml/2006/main">
              <a:ext uri="{FF2B5EF4-FFF2-40B4-BE49-F238E27FC236}">
                <a16:creationId xmlns:a16="http://schemas.microsoft.com/office/drawing/2014/main" id="{1F6F62E6-7EF6-4589-B8B3-15F62FF8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385" y="4180205"/>
            <a:ext cx="625475" cy="625475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6" name="序号">
            <a:extLst xmlns:a="http://schemas.openxmlformats.org/drawingml/2006/main">
              <a:ext uri="{FF2B5EF4-FFF2-40B4-BE49-F238E27FC236}">
                <a16:creationId xmlns:a16="http://schemas.microsoft.com/office/drawing/2014/main" id="{AB238F70-364C-4B1A-BA2C-3BD9F837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385" y="5094605"/>
            <a:ext cx="625475" cy="625475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7" name="项标题">
            <a:extLst xmlns:a="http://schemas.openxmlformats.org/drawingml/2006/main">
              <a:ext uri="{FF2B5EF4-FFF2-40B4-BE49-F238E27FC236}">
                <a16:creationId xmlns:a16="http://schemas.microsoft.com/office/drawing/2014/main" id="{7A24C541-B960-4652-BC53-EF768CA5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333" y="4308277"/>
            <a:ext cx="3775001" cy="4647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spc="300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设计开发</a:t>
            </a:r>
          </a:p>
        </p:txBody>
      </p:sp>
      <p:sp>
        <p:nvSpPr>
          <p:cNvPr id="39" name="项标题">
            <a:extLst xmlns:a="http://schemas.openxmlformats.org/drawingml/2006/main">
              <a:ext uri="{FF2B5EF4-FFF2-40B4-BE49-F238E27FC236}">
                <a16:creationId xmlns:a16="http://schemas.microsoft.com/office/drawing/2014/main" id="{3622C904-FDD0-4A3B-B683-28075FF0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333" y="5222244"/>
            <a:ext cx="3775001" cy="4647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spc="300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应用效果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21BD91A-7D42-4E93-9685-B49BCDBF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</p:spTree>
    <p:extLst>
      <p:ext uri="{BB962C8B-B14F-4D97-AF65-F5344CB8AC3E}">
        <p14:creationId xmlns:p14="http://schemas.microsoft.com/office/powerpoint/2010/main" val="122732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04877B1-1DE9-4E11-AC41-16068311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FD3F7C68-AEE5-4368-8D0A-21D49A8A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2E1A0-8A6B-4E1C-9467-BB32AEEC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团队介绍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90752-16FD-4B26-B939-7F350BBF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39C60-83EF-4AB4-ACD7-90953BAC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5D6E1-33E3-4784-BF52-A0315DF1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项目由程林独立完成开发，李耀老师提供就业指导与产品设计指导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DD049-9EBA-40F5-B952-2091E79D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5E10D-3EA4-4CC9-AE7E-42E223A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57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程林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4ED96-A572-4494-81D9-7D2162E5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432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队长 · 开发负责人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6AC4C-7705-4C2D-AC2D-577BDF6A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19500"/>
            <a:ext cx="42672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成都信息工程大学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空间信息与数字技术 · 2024级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负责需求梳理、前端、后端、数据库、FastGPT 接入与测试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EAEF0-417B-4B0D-9B6E-2670C908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19BA3-7FE1-4976-A60E-7FD94F10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57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李耀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99AEC-C419-49CB-A4BC-FF53E8DC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432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60F31-C884-4077-A46C-2F0FD6E3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426720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9E4F5"/>
            </a:solidFill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成都信息工程大学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就业指导与项目指导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负责需求方向、业务边界和成果呈现指导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67720-4C80-4F9F-A815-B4ECA5A2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BE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分工特点：一人完成全栈开发，指导教师把关就业业务逻辑与展示表达</a:t>
            </a:r>
          </a:p>
        </p:txBody>
      </p:sp>
    </p:spTree>
    <p:extLst>
      <p:ext uri="{BB962C8B-B14F-4D97-AF65-F5344CB8AC3E}">
        <p14:creationId xmlns:p14="http://schemas.microsoft.com/office/powerpoint/2010/main" val="12725325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FCBB3E6-9DE5-49DC-8598-2DFEC387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C38CA0AC-8F1C-442C-BCFE-A6C0F3CC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B1459-3813-4C66-9E45-674F6E29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作品介绍：职途智航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A370C-F491-4EA6-8EE8-482147A1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57729-3FB2-423C-875A-240FC9B4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4836E-69EF-4C49-8224-20476546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57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面向高校就业指导的智能规划与协同工作台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63E48-5B78-419C-9846-C4AC32AA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t">
            <a:normAutofit fontScale="95663"/>
          </a:bodyPr>
          <a:lstStyle xmlns:a="http://schemas.openxmlformats.org/drawingml/2006/main"/>
          <a:p xmlns:a="http://schemas.openxmlformats.org/drawingml/2006/main"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将职业画像、岗位匹配、能力缺口和行动计划串成持续更新的业务闭环</a:t>
            </a:r>
          </a:p>
          <a:p xmlns:a="http://schemas.openxmlformats.org/drawingml/2006/main"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用 FastGPT 回答职业发展与就业政策问题，保留来源和人工确认提示</a:t>
            </a:r>
          </a:p>
          <a:p xmlns:a="http://schemas.openxmlformats.org/drawingml/2006/main"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让就业指导教师与管理员在授权范围内参与指导和治理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ECB45-2C09-443A-B3EB-DE163CC5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8958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0C47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952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95217"/>
                </a:solidFill>
                <a:latin typeface="Microsoft YaHei"/>
                <a:ea typeface="Microsoft YaHei"/>
                <a:cs typeface="Microsoft YaHei"/>
              </a:rPr>
              <a:t>产品边界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952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95217"/>
                </a:solidFill>
                <a:latin typeface="Microsoft YaHei"/>
                <a:ea typeface="Microsoft YaHei"/>
                <a:cs typeface="Microsoft YaHei"/>
              </a:rPr>
              <a:t>不自动投递，不替代教师，不承诺录用结果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0FD35-70E9-4FEA-BC98-0C74E7EC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000250" cy="7048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383">
            <a:solidFill>
              <a:srgbClr val="A8BFE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01  职业画像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1D655-B966-4E42-B7AE-1FFFC3EF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000250" cy="7048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383">
            <a:solidFill>
              <a:srgbClr val="A8BFE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02  岗位匹配</a:t>
            </a:r>
          </a:p>
        </p:txBody>
      </p: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77250" y="21621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4274B-C6DA-4F43-BBAA-E1BAE5A5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2000250" cy="7048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383">
            <a:solidFill>
              <a:srgbClr val="A8BFE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03  能力缺口</a:t>
            </a:r>
          </a:p>
        </p:txBody>
      </p:sp>
      <p:cxnSp>
        <p:nvCxnSpPr>
          <p:cNvPr id="34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7477125" y="2514600"/>
            <a:ext cx="23812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AD843-B509-4F19-86E1-2350E7D1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2000250" cy="7048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383">
            <a:solidFill>
              <a:srgbClr val="A8BFE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04  行动计划</a:t>
            </a:r>
          </a:p>
        </p:txBody>
      </p:sp>
      <p:cxnSp>
        <p:nvCxnSpPr>
          <p:cNvPr id="36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477250" y="35147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4861D-16BA-4AB7-9E1E-9FF9CD4B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2000250" cy="7048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2383">
            <a:solidFill>
              <a:srgbClr val="9ACFC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05  智能咨询</a:t>
            </a:r>
          </a:p>
        </p:txBody>
      </p:sp>
      <p:cxnSp>
        <p:nvCxnSpPr>
          <p:cNvPr id="38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7477125" y="3867150"/>
            <a:ext cx="23812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F6A57-ACA6-49E6-B95A-0D29A31E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2000250" cy="7048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2383">
            <a:solidFill>
              <a:srgbClr val="9ACFC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06  教师指导</a:t>
            </a:r>
          </a:p>
        </p:txBody>
      </p:sp>
      <p:cxnSp>
        <p:nvCxnSpPr>
          <p:cNvPr id="40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477250" y="4867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4441349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8050B7B-904F-415C-B3F9-45E17533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5BD46582-9667-4A05-807C-A74F6698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AA211-5F30-49CE-8DA7-3C710D76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三类用户与核心功能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1628F-2B80-4D7F-A6F7-7A1F76BF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6C974-8EC3-4B89-9436-85A10CB5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F7095-1D0F-4ACA-BCB7-01FF28FB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2575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29976-AFBE-48CF-BC0D-4752C3AF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2575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CFDB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建立职业画像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查看岗位匹配与缺口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生成阶段行动计划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发起智能咨询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40FFA-3FE1-47D5-AF51-F15717F8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2575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就业指导教师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6E7FE-5BF4-4B99-80DA-11A58B3D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32575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CFDB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查看授权学生摘要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跟踪计划执行状态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提交专业指导意见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保留人工判断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D9606-80D5-4D5D-BD04-30D41F8C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2575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就业管理员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19A76-C274-4668-8310-A93A0B64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32575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11430">
            <a:solidFill>
              <a:srgbClr val="CFDB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维护账号与师生授权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治理岗位和知识资料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查看脱敏审计事件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管理系统边界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A9F8B-ED21-4BFE-83CA-824ED4DD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19700"/>
            <a:ext cx="8496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AEC3E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同一套服务端权限模型约束数据可见范围，前端不能自行声明或提升角色</a:t>
            </a:r>
          </a:p>
        </p:txBody>
      </p:sp>
    </p:spTree>
    <p:extLst>
      <p:ext uri="{BB962C8B-B14F-4D97-AF65-F5344CB8AC3E}">
        <p14:creationId xmlns:p14="http://schemas.microsoft.com/office/powerpoint/2010/main" val="2056125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64A1E71-AC14-45B0-81AD-493411E4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F174B44-CE89-44EE-9A53-F10A4D77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C9D0D-BACC-4A9A-B038-55059DF0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FE8E3-E0D8-45FF-A8F2-C0D5AFDF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B3201-B523-45AC-AB48-63AF4324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80DA0-2E0C-421B-B20F-D2CEDFD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571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高校就业指导痛点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F8C51-059E-4D85-A22B-A7907C4B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14500"/>
            <a:ext cx="2571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945AD-D63C-4F02-A5BF-690EF827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571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96BD7-EF6F-4DFD-81F0-E60DF3F5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5DF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目标模糊，材料零散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CDE71-F82E-4360-A7ED-D72C53E1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860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5C8E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结构化职业画像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3B43D-896D-4466-9167-A52FCB58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A8D7D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形成可复用的学生档案</a:t>
            </a:r>
          </a:p>
        </p:txBody>
      </p: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52800" y="259080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91400" y="259080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0830E-AB9E-41AD-8A8B-0D3E9E0C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5DF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岗位推荐依据不透明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4DC99-94D8-43D8-BC7C-B89F2571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42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5C8E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固定规则评分与缺口解释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EB210-A1FB-4041-93AE-FF753880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A8D7D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相同输入得到稳定结果</a:t>
            </a:r>
          </a:p>
        </p:txBody>
      </p:sp>
      <p:cxnSp>
        <p:nvCxnSpPr>
          <p:cNvPr id="4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52800" y="342900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391400" y="342900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975E15-6BFF-4D10-BF2C-5798301F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5DF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政策与职业问题重复咨询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DFE6A-2135-4FD6-95E7-36BA0A67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624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5C8E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FastGPT 双路知识问答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C8BCE-98DE-439A-8089-6FEEE74B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624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A8D7D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回答可保留来源与提示</a:t>
            </a:r>
          </a:p>
        </p:txBody>
      </p: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352800" y="426720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391400" y="426720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62856B-5BAB-4749-8464-37E3012C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5DFE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教师时间有限，协同边界不清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C15DBD-FE6C-4511-B885-0DB6164F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006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5C8E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授权访问与指导意见闭环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10D284-B347-432E-9D54-BD44D03D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25717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A8D7D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教师只看授权学生摘要</a:t>
            </a:r>
          </a:p>
        </p:txBody>
      </p:sp>
      <p:cxnSp>
        <p:nvCxnSpPr>
          <p:cNvPr id="58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352800" y="510540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391400" y="510540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82A5E-AB83-4AFB-9F62-2BA4CF37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721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优先满足可解释、可追溯、最小数据和人工协同四项约束</a:t>
            </a:r>
          </a:p>
        </p:txBody>
      </p:sp>
    </p:spTree>
    <p:extLst>
      <p:ext uri="{BB962C8B-B14F-4D97-AF65-F5344CB8AC3E}">
        <p14:creationId xmlns:p14="http://schemas.microsoft.com/office/powerpoint/2010/main" val="19158795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18F6123-E292-4DD6-BE15-4C8D6A05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D7A6EC8-EDD6-40CF-B97A-D64F2568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FDF41-F093-4D6C-AD6E-CB29A251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业务流程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AE4BA-033B-4A8D-9455-EE401930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36563-B072-467F-80F5-91FD35AF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EB66B-75E8-46E1-9F4F-5942E0FD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10871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9525">
            <a:solidFill>
              <a:srgbClr val="D0D9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2DD61-F55B-4DE4-B187-3557773B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1087100" cy="15621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0D9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39B85-4B3E-4152-9BFB-163F0DC5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110871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9525">
            <a:solidFill>
              <a:srgbClr val="D0D9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2C90C-F536-4AB4-AD74-706766C1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E103D-D491-4AC3-BE4A-602888C7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4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系统与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智能体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3B26E-6227-4967-889A-EBC9C9C3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22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教师与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511BD-4D16-4827-8A3D-F6D9026F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38350"/>
            <a:ext cx="14287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6C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注册登录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FB62A-C9D8-4F23-8A2C-6067189C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05225"/>
            <a:ext cx="14287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A8BFE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认证与角色校验</a:t>
            </a:r>
          </a:p>
        </p:txBody>
      </p:sp>
      <p:cxnSp>
        <p:nvCxnSpPr>
          <p:cNvPr id="56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667000" y="2686050"/>
            <a:ext cx="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B879A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BD8FF-F263-4359-8B60-25A4D424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14287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6C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职业画像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57A76-4D9E-41E4-9257-7700FB0C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05225"/>
            <a:ext cx="14287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A8BFE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过滤有效岗位</a:t>
            </a:r>
          </a:p>
        </p:txBody>
      </p:sp>
      <p:cxnSp>
        <p:nvCxnSpPr>
          <p:cNvPr id="59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81375" y="23622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381375" y="4029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524375" y="2686050"/>
            <a:ext cx="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B879A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956C0-499B-4CCF-91F3-048AB510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38350"/>
            <a:ext cx="14287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6C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查看匹配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缺口与来源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ECE8D-5D08-4ADB-9B66-5FCB766C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705225"/>
            <a:ext cx="14287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A8BFE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五维评分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稳定排序</a:t>
            </a:r>
          </a:p>
        </p:txBody>
      </p: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238750" y="23622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238750" y="4029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381750" y="2686050"/>
            <a:ext cx="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B879A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BB9784-EA77-4328-AF6D-978D0831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14287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6C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生成行动计划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C34FF9-65D2-4580-B34F-871DD29D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05225"/>
            <a:ext cx="14287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A8BFE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生成阶段任务</a:t>
            </a:r>
          </a:p>
        </p:txBody>
      </p:sp>
      <p:cxnSp>
        <p:nvCxnSpPr>
          <p:cNvPr id="69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096125" y="23622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096125" y="4029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239125" y="2686050"/>
            <a:ext cx="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B879A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D3445C-4863-4B18-BB7A-F25C45C6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38350"/>
            <a:ext cx="14287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6C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咨询并更新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3C29A7-0669-4EB6-82FB-73A3FDEA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05225"/>
            <a:ext cx="14287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98D0C7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FastGPT 路由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回答与来源</a:t>
            </a:r>
          </a:p>
        </p:txBody>
      </p:sp>
      <p:cxnSp>
        <p:nvCxnSpPr>
          <p:cNvPr id="74" name=""/>
          <p:cNvCxnSpPr>
            <a:stCxn xmlns:a="http://schemas.openxmlformats.org/drawingml/2006/main" id="27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953500" y="23622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75" name=""/>
          <p:cNvCxnSpPr>
            <a:stCxn xmlns:a="http://schemas.openxmlformats.org/drawingml/2006/main" id="28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8953500" y="4029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0096500" y="2686050"/>
            <a:ext cx="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B879A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7AAADD-435A-4D71-B982-9A53D0F9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23812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6C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9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教师查看授权摘要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提交指导意见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80D825-FF95-4281-9ECC-6970799A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38750"/>
            <a:ext cx="23812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B6C9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9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管理员维护账号、岗位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知识资料与审计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6BD0DC-F200-4C35-A512-6347A21F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38750"/>
            <a:ext cx="23812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E3B46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9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学生依据意见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调整行动计划</a:t>
            </a:r>
          </a:p>
        </p:txBody>
      </p:sp>
      <p:cxnSp>
        <p:nvCxnSpPr>
          <p:cNvPr id="80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762500" y="5514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7715250" y="55149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DF9E18-A7F6-423A-B633-44F07618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143625"/>
            <a:ext cx="796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00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规则负责评分与筛选，FastGPT 负责知识问答，教师负责专业确认</a:t>
            </a:r>
          </a:p>
        </p:txBody>
      </p:sp>
    </p:spTree>
    <p:extLst>
      <p:ext uri="{BB962C8B-B14F-4D97-AF65-F5344CB8AC3E}">
        <p14:creationId xmlns:p14="http://schemas.microsoft.com/office/powerpoint/2010/main" val="16525478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EE593-3071-490C-9C86-9AA0CCD1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系统总体架构与技术路线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BF134-9509-4FBE-9433-F5FF6991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18573-3598-49C3-B948-CC599126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8b09125904fdc"/>
          <a:stretch xmlns:a="http://schemas.openxmlformats.org/drawingml/2006/main"/>
        </p:blipFill>
        <p:spPr>
          <a:xfrm xmlns:a="http://schemas.openxmlformats.org/drawingml/2006/main">
            <a:off x="2348279" y="1581150"/>
            <a:ext cx="7495442" cy="4429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E74F2-7B27-479F-B55E-A3824C6C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2381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React + TypeScript +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7AA7F-9772-4E89-A79F-76F8B35F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048375"/>
            <a:ext cx="2381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FastAPI + SQLAlchemy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BDD19-F23C-48D4-B49C-1054259E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048375"/>
            <a:ext cx="2381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PostgreSQL + Alembic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6EA4C-28AF-415A-9905-9D6E76F4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048375"/>
            <a:ext cx="2381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FastGPT + REST API</a:t>
            </a:r>
          </a:p>
        </p:txBody>
      </p:sp>
    </p:spTree>
    <p:extLst>
      <p:ext uri="{BB962C8B-B14F-4D97-AF65-F5344CB8AC3E}">
        <p14:creationId xmlns:p14="http://schemas.microsoft.com/office/powerpoint/2010/main" val="20167362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983CD-BF96-43C8-984A-8675C22B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智能体设计：职责分工与判断边界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D913D-885B-4C70-8682-F3F242F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4104A-D287-4255-BAFD-EA31E089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C82DC-B3E6-4907-B7E9-61C5C63F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952750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9FB8E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确定性规则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岗位过滤、五维评分、稳定排序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A5EB3-E20F-41AB-8AC0-D4ED9A94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952750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4288">
            <a:solidFill>
              <a:srgbClr val="8CCFC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FastGPT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职业发展与就业政策问答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C91C8-7AC4-4AA3-9974-FD8C2D88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952750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4288">
            <a:solidFill>
              <a:srgbClr val="E7B666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就业指导教师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复核个体情况并给出专业意见</a:t>
            </a:r>
          </a:p>
        </p:txBody>
      </p: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14750" y="24526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72375" y="2452688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D6BBC-3EE3-4B12-8B63-C73E47F2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2266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保证推荐可解释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5F77B-AEFB-4703-A95A-7C1D0B90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524250"/>
            <a:ext cx="2266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提升咨询服务效率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E49E2-D166-48D3-9B5D-22FA78CC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24250"/>
            <a:ext cx="2266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保留最终专业判断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7780E-C4A1-49B9-A57C-D4E6627A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9525000" cy="1257300"/>
          </a:xfrm>
          <a:prstGeom xmlns:a="http://schemas.openxmlformats.org/drawingml/2006/main" prst="roundRect">
            <a:avLst>
              <a:gd name="adj" fmla="val 530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CDD9E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最小数据原则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前端仅提交问题与可控应用标识，FastGPT 不直接访问 PostgreSQL 业务数据库。API Key 保留在服务端，错误信息和原始上游响应不向前端透传。</a:t>
            </a:r>
          </a:p>
        </p:txBody>
      </p:sp>
    </p:spTree>
    <p:extLst>
      <p:ext uri="{BB962C8B-B14F-4D97-AF65-F5344CB8AC3E}">
        <p14:creationId xmlns:p14="http://schemas.microsoft.com/office/powerpoint/2010/main" val="20167362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45472-3821-4575-B37E-6216700E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可解释岗位匹配模型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6A1E8-8B08-45BC-BD8D-F64A7767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902F1-CF37-44A4-8250-3554936F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51669-680F-4ED5-B81C-236C8EBE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固定权重，总分 100 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567AC-5CB2-42AF-8DDB-FEF84F50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技能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2DD0F-1D34-4E21-B1BC-8A6F3AE6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62200"/>
            <a:ext cx="33337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A3F91-488F-469A-B1B6-805A4BB0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62200"/>
            <a:ext cx="33337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90B0B-0939-4E87-9C76-EC2F2D86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241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50分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FC807-DCB9-457C-A64A-EB704753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70EFE-F2E1-425C-BA52-EEFB7155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00375"/>
            <a:ext cx="33337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73ED6-BFB1-42E6-90B7-AAA22909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00375"/>
            <a:ext cx="13335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B4EC3-7937-4F7E-95C3-4F412629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622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rPr>
              <a:t>20分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9CA6E-C006-491F-9F44-299D79D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E1FED-95B9-43CC-8CD7-CA919F03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38550"/>
            <a:ext cx="33337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F119A-F608-4E30-AAA1-EAA38990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38550"/>
            <a:ext cx="100012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E426A-1643-4D23-B44D-0467D09E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15分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1CA82-692C-4F49-B63B-6485F9D9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目标岗位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7D7AA-9A34-49C8-819A-025BFA7A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76725"/>
            <a:ext cx="33337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BBF18-A07E-4713-BDCE-8B9204BC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76725"/>
            <a:ext cx="6667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CAFAA1-871B-442D-8A23-C1BE3E0C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386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E18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18B2C"/>
                </a:solidFill>
                <a:latin typeface="Microsoft YaHei"/>
                <a:ea typeface="Microsoft YaHei"/>
                <a:cs typeface="Microsoft YaHei"/>
              </a:rPr>
              <a:t>10分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CD94DB-B567-4A61-9E12-9A909CBA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城市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D4D9F-ABA8-4F79-881D-953AA428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14900"/>
            <a:ext cx="33337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B92E28-2997-4011-8DCF-3CB2C265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14900"/>
            <a:ext cx="33337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C94D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276A5-37AF-4F94-A40E-950E878E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768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C94D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4D5C"/>
                </a:solidFill>
                <a:latin typeface="Microsoft YaHei"/>
                <a:ea typeface="Microsoft YaHei"/>
                <a:cs typeface="Microsoft YaHei"/>
              </a:rPr>
              <a:t>5分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1B41F-E54A-40EC-8770-60337B7E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28800"/>
            <a:ext cx="3981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进入评分前的硬性过滤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ECF5B1-1273-4A58-A29D-83FAA31B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405765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CBD8E9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仅使用已发布且未过期岗位</a:t>
            </a:r>
          </a:p>
          <a:p xmlns:a="http://schemas.openxmlformats.org/drawingml/2006/main"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岗位必须具有有效来源或明确标识为演示数据</a:t>
            </a:r>
          </a:p>
          <a:p xmlns:a="http://schemas.openxmlformats.org/drawingml/2006/main">
            <a:pPr marL="279400" indent="-139700" algn="l">
              <a:lnSpc>
                <a:spcPct val="112000"/>
              </a:lnSpc>
              <a:spcAft>
                <a:spcPts val="900"/>
              </a:spcAft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相同分数采用固定次序，保证结果稳定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020CE3-F343-4B5D-BF9B-D048B185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3981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结果解释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54FFC0-0CAD-49D2-8262-0772D80E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05375"/>
            <a:ext cx="40576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A8D7D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7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同时返回分项得分、能力缺口和岗位来源。行动计划只基于真实缺口生成，不编造录用结论。</a:t>
            </a:r>
          </a:p>
        </p:txBody>
      </p:sp>
    </p:spTree>
    <p:extLst>
      <p:ext uri="{BB962C8B-B14F-4D97-AF65-F5344CB8AC3E}">
        <p14:creationId xmlns:p14="http://schemas.microsoft.com/office/powerpoint/2010/main" val="20167362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CDA86-A15B-4F21-8122-8D49C45E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FastGPT 双路问答与安全降级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92509-F2AF-42B3-AD57-9117B054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8D8F9-AF9A-4F69-8F12-5672E821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3DA47-F3F4-4481-992C-742AC5FA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00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3335">
            <a:solidFill>
              <a:srgbClr val="9FB8E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ED999-6CBE-4F3A-8263-1176CB89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381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3335">
            <a:solidFill>
              <a:srgbClr val="8CCFC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服务端路由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AC3DE-B804-456D-8305-4332939F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2266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6FF"/>
          </a:solidFill>
          <a:ln xmlns:a="http://schemas.openxmlformats.org/drawingml/2006/main" w="11430">
            <a:solidFill>
              <a:srgbClr val="AFC1E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职业发展应用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F9A6F-94F8-4D70-8513-FD7CAD9E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2266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AF8"/>
          </a:solidFill>
          <a:ln xmlns:a="http://schemas.openxmlformats.org/drawingml/2006/main" w="11430">
            <a:solidFill>
              <a:srgbClr val="A3D5C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就业政策应用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EDF4C-CE37-46A4-92C5-81A93FA3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714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1430">
            <a:solidFill>
              <a:srgbClr val="E5B765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文本回答</a:t>
            </a:r>
          </a:p>
        </p:txBody>
      </p: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67000" y="2343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810250" y="2009775"/>
            <a:ext cx="104775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10250" y="2343150"/>
            <a:ext cx="10477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124950" y="2009775"/>
            <a:ext cx="68580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9124950" y="2343150"/>
            <a:ext cx="6858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47083-2E66-4FC5-BD27-D2A62719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2400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有结构化来源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ACB97-6EB1-459B-9EA6-482EC42E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86200"/>
            <a:ext cx="6858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3DDE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09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显示完整回答与来源链接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9BBFE-20EE-4A4F-8789-56BFEDFC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2400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无结构化来源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7CF26-8587-4A1C-88DD-ABAC4A27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6858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3DDE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09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保留回答，同时提示人工确认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93E2A-FBFF-416D-BBBC-8685BE38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2400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4D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超时或响应异常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038C8-2E21-4A30-A346-2F9BAE7F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57800"/>
            <a:ext cx="6858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3DDE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09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返回稳定降级提示，不暴露上游错误</a:t>
            </a:r>
          </a:p>
        </p:txBody>
      </p:sp>
    </p:spTree>
    <p:extLst>
      <p:ext uri="{BB962C8B-B14F-4D97-AF65-F5344CB8AC3E}">
        <p14:creationId xmlns:p14="http://schemas.microsoft.com/office/powerpoint/2010/main" val="201673620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6ADF0-F766-47C5-8D49-BDDFDBD0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数据模型与权限边界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DD8CF-607D-43FD-B368-E2D4588D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04825-EE19-4B9E-BE19-5F8E32A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1F1A6-45EE-49ED-96EB-346A5627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57350"/>
            <a:ext cx="3086100" cy="7239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AB9CF"/>
            </a:solidFill>
            <a:prstDash val="solid"/>
          </a:ln>
        </p:spPr>
        <p:txBody>
          <a:bodyPr xmlns:a="http://schemas.openxmlformats.org/drawingml/2006/main" wrap="square" lIns="1143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PK id · username · role ·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8033A-2055-4E12-9B5D-720E0EE6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57350"/>
            <a:ext cx="30861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735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AF701-12CF-441C-AD02-DC367E78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724150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AB9CF"/>
            </a:solidFill>
            <a:prstDash val="solid"/>
          </a:ln>
        </p:spPr>
        <p:txBody>
          <a:bodyPr xmlns:a="http://schemas.openxmlformats.org/drawingml/2006/main" wrap="square" lIns="1143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user_id · major · skills · target_role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3C75F-2011-45B4-B467-FA43036E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7241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career_profiles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A6A90-C955-4A2D-B14A-6B726885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2724150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AB9CF"/>
            </a:solidFill>
            <a:prstDash val="solid"/>
          </a:ln>
        </p:spPr>
        <p:txBody>
          <a:bodyPr xmlns:a="http://schemas.openxmlformats.org/drawingml/2006/main" wrap="square" lIns="1143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title · required_skills · source ·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0A63C-6FE0-482F-B0AD-FFA82E4F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27241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job_postings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58F00-1445-4A15-A596-FB556293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272415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AB9CF"/>
            </a:solidFill>
            <a:prstDash val="solid"/>
          </a:ln>
        </p:spPr>
        <p:txBody>
          <a:bodyPr xmlns:a="http://schemas.openxmlformats.org/drawingml/2006/main" wrap="square" lIns="1143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profile_id · FK job_id · score · gaps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086B1-EDA4-4BC6-8420-1B2E0D8A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27241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match_results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33D3F-3C5D-42BE-93A8-FC3751B4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29150"/>
            <a:ext cx="2724150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AB9CF"/>
            </a:solidFill>
            <a:prstDash val="solid"/>
          </a:ln>
        </p:spPr>
        <p:txBody>
          <a:bodyPr xmlns:a="http://schemas.openxmlformats.org/drawingml/2006/main" wrap="square" lIns="1143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student_id · FK match_id · tasks ·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F3CD2-C35A-4445-BA8E-56BF1F0F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29150"/>
            <a:ext cx="27241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action_plans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3CAF6-10DB-4F0E-95BE-AA19F50C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2724150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AB9CF"/>
            </a:solidFill>
            <a:prstDash val="solid"/>
          </a:ln>
        </p:spPr>
        <p:txBody>
          <a:bodyPr xmlns:a="http://schemas.openxmlformats.org/drawingml/2006/main" wrap="square" lIns="1143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counselor_id · FK student_id · UNIQUE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E2587-CDAD-4809-A0E5-786C0459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28900"/>
            <a:ext cx="27241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counselor_student_access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A89F4-99E1-40D0-B130-CE48BB02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95750"/>
            <a:ext cx="2724150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AB9CF"/>
            </a:solidFill>
            <a:prstDash val="solid"/>
          </a:ln>
        </p:spPr>
        <p:txBody>
          <a:bodyPr xmlns:a="http://schemas.openxmlformats.org/drawingml/2006/main" wrap="square" lIns="1143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teacher_id · FK student_id · FK plan_id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AD72C-BBB1-4F53-B8FA-39314CEE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95750"/>
            <a:ext cx="27241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18B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teacher_advice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9CF9A-0E7F-4808-8B36-4AFD213B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91150"/>
            <a:ext cx="2724150" cy="7239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AB9CF"/>
            </a:solidFill>
            <a:prstDash val="solid"/>
          </a:ln>
        </p:spPr>
        <p:txBody>
          <a:bodyPr xmlns:a="http://schemas.openxmlformats.org/drawingml/2006/main" wrap="square" lIns="1143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FK actor_id · action · resource · metadata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7F7EF-F006-473F-B2DC-45059F9B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91150"/>
            <a:ext cx="272415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C94D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audit_events</a:t>
            </a:r>
          </a:p>
        </p:txBody>
      </p:sp>
      <p:cxnSp>
        <p:nvCxnSpPr>
          <p:cNvPr id="53" name=""/>
          <p:cNvCxnSpPr>
            <a:stCxn xmlns:a="http://schemas.openxmlformats.org/drawingml/2006/main" id="8" idx="1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2085975" y="2019300"/>
            <a:ext cx="246697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448050" y="3143250"/>
            <a:ext cx="12763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3448050" y="3429000"/>
            <a:ext cx="127635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86475" y="38862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639050" y="2019300"/>
            <a:ext cx="97155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972675" y="34671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7448550" y="4514850"/>
            <a:ext cx="116205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91B3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BFC564-3F93-4A2C-A48C-EF594B6D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181725"/>
            <a:ext cx="883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00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核心业务数据留在 PostgreSQL。FastGPT 不直接读取画像、匹配结果或教师意见</a:t>
            </a:r>
          </a:p>
        </p:txBody>
      </p:sp>
    </p:spTree>
    <p:extLst>
      <p:ext uri="{BB962C8B-B14F-4D97-AF65-F5344CB8AC3E}">
        <p14:creationId xmlns:p14="http://schemas.microsoft.com/office/powerpoint/2010/main" val="20167362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DED63-40D3-4A59-9ED7-73C92106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应用效果：真实工作台界面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1605D-320D-455C-999F-17CB4C2D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FD482-24DB-4571-9607-0A5828C3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6b5078d634319"/>
          <a:srcRect xmlns:a="http://schemas.openxmlformats.org/drawingml/2006/main" l="0" t="19293" r="0" b="19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95450"/>
            <a:ext cx="5238750" cy="180975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6E8D4-4838-4A23-87D9-BDBB7CDA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账号登录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1bfc3bbdf49cf"/>
          <a:srcRect xmlns:a="http://schemas.openxmlformats.org/drawingml/2006/main" l="0" t="19293" r="0" b="19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1695450"/>
            <a:ext cx="5238750" cy="180975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94631-6A67-41CC-B3C1-33286567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433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学生账号注册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f557c42ca4beb"/>
          <a:srcRect xmlns:a="http://schemas.openxmlformats.org/drawingml/2006/main" l="0" t="19293" r="0" b="19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4095750"/>
            <a:ext cx="5238750" cy="180975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303C1-B3E0-4734-B9C0-254708B4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管理员岗位资料台账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a0700f9894cbe"/>
          <a:srcRect xmlns:a="http://schemas.openxmlformats.org/drawingml/2006/main" l="0" t="25127" r="0" b="251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4095750"/>
            <a:ext cx="5238750" cy="180975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1A8C1-CA24-45E0-A43A-E55EDD5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436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学生端工作台</a:t>
            </a:r>
          </a:p>
        </p:txBody>
      </p:sp>
    </p:spTree>
    <p:extLst>
      <p:ext uri="{BB962C8B-B14F-4D97-AF65-F5344CB8AC3E}">
        <p14:creationId xmlns:p14="http://schemas.microsoft.com/office/powerpoint/2010/main" val="20167362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E42DC67-F969-4BB9-BEFA-AA4EFFBA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325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3FCC474-E50C-4D0E-811C-E804719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" y="1490345"/>
            <a:ext cx="4338320" cy="19386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887EB-C89A-47B2-B584-86D63BCC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568"/>
                </a:solidFill>
                <a:latin typeface="Microsoft YaHei"/>
                <a:ea typeface="Microsoft YaHei"/>
                <a:cs typeface="Microsoft YaHei"/>
              </a:rPr>
              <a:t>测试结果与应用价值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04437-D4B5-4F54-A085-B8E885C0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810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PART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B9A7E-6565-4608-9701-A86B57B1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A3278-3D2F-4D8D-A0BF-D90D664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81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2DDE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7D6"/>
                </a:solidFill>
                <a:latin typeface="Microsoft YaHei"/>
                <a:ea typeface="Microsoft YaHei"/>
                <a:cs typeface="Microsoft YaHei"/>
              </a:rPr>
              <a:t>51 / 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A4C49-8A1B-4B70-91B2-3023BF81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后端自动化测试通过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B0275-3474-49A7-B4BA-9AC49C53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2381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2DDE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A6C6"/>
                </a:solidFill>
                <a:latin typeface="Microsoft YaHei"/>
                <a:ea typeface="Microsoft YaHei"/>
                <a:cs typeface="Microsoft YaHei"/>
              </a:rPr>
              <a:t>3 类角色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36AD5-9CD1-489E-8F08-37631957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574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核心业务流程已验证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B2FBC-42F2-402D-9260-3EC3CD73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2381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2DDE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C94D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C94D5C"/>
                </a:solidFill>
                <a:latin typeface="Microsoft YaHei"/>
                <a:ea typeface="Microsoft YaHei"/>
                <a:cs typeface="Microsoft YaHei"/>
              </a:rPr>
              <a:t>403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F8564-650F-4E21-97CC-8B944DBB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574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越权访问被服务端拒绝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C8D38-4AA9-4FB0-9E8E-10A66A86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90700"/>
            <a:ext cx="2381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2DDE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836D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8D1F0-AD4B-4A9D-BF57-36BE2CB1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574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前端构建与静态检查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FCDA4-A613-4D12-8194-0E6C10BF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152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45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A02A8-7480-40CA-B3E6-B15F0C1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78676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4DEE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09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明确岗位方向和能力缺口，形成可执行计划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91EA9-943D-48FE-8601-3E6645D2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152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A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5F2E62-02C8-436C-91E5-ACDE067D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19600"/>
            <a:ext cx="78676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4DEE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09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减少重复咨询，把时间用于个体问题和专业判断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6EE7F-72E7-451E-B919-30C0CB2D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152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8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C4CFB-4780-4B03-B85A-FBC2B38C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00650"/>
            <a:ext cx="78676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4DEE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709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44E"/>
                </a:solidFill>
                <a:latin typeface="Microsoft YaHei"/>
                <a:ea typeface="Microsoft YaHei"/>
                <a:cs typeface="Microsoft YaHei"/>
              </a:rPr>
              <a:t>沉淀可追溯的就业指导流程、授权和审计记录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63DCB-E49C-43CB-BF48-1685945B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38850"/>
            <a:ext cx="906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8A"/>
                </a:solidFill>
                <a:latin typeface="Microsoft YaHei"/>
                <a:ea typeface="Microsoft YaHei"/>
                <a:cs typeface="Microsoft YaHei"/>
              </a:rPr>
              <a:t>说明：以上为本地测试与演示环境结果，外部 FastGPT 生产应用需在部署环境继续验收</a:t>
            </a:r>
          </a:p>
        </p:txBody>
      </p:sp>
    </p:spTree>
    <p:extLst>
      <p:ext uri="{BB962C8B-B14F-4D97-AF65-F5344CB8AC3E}">
        <p14:creationId xmlns:p14="http://schemas.microsoft.com/office/powerpoint/2010/main" val="2016736208"/>
      </p:ext>
    </p:extLst>
  </p:cSld>
</p:sld>
</file>

<file path=ppt/slides/slide15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70C121-199E-4DC1-95F7-871C7127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002" y="2663992"/>
            <a:ext cx="8214725" cy="143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规则可解释  模型提效率  教师作确认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85C0C49-C69F-4D89-AE1E-AF8B6172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026535"/>
            <a:ext cx="5771515" cy="119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THANK YOU</a:t>
            </a:r>
            <a:endParaRPr sz="3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</a:pPr>
            <a:endParaRPr sz="36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9FB0A54-587D-4C03-ACDA-F521AF5F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950" y="316230"/>
            <a:ext cx="217805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职途智航</a:t>
            </a:r>
          </a:p>
        </p:txBody>
      </p:sp>
    </p:spTree>
    <p:extLst>
      <p:ext uri="{BB962C8B-B14F-4D97-AF65-F5344CB8AC3E}">
        <p14:creationId xmlns:p14="http://schemas.microsoft.com/office/powerpoint/2010/main" val="1469429659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2026-09-14T10:32:34.7820000Z</dcterms:created>
  <dcterms:modified xsi:type="dcterms:W3CDTF">2026-09-14T10:32:34.7820000Z</dcterms:modified>
</coreProperties>
</file>
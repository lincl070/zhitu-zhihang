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dfff7321b64206" /><Relationship Type="http://schemas.openxmlformats.org/officeDocument/2006/relationships/extended-properties" Target="/docProps/app.xml" Id="Ra43852e2eb4f4476" /><Relationship Type="http://schemas.openxmlformats.org/officeDocument/2006/relationships/officeDocument" Target="/ppt/presentation.xml" Id="R272608c7b6b34c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2ca2a99ca241d4"/>
  </p:sldMasterIdLst>
  <p:notesMasterIdLst>
    <p:notesMasterId xmlns:r="http://schemas.openxmlformats.org/officeDocument/2006/relationships" r:id="R335728f0002f4f0c"/>
  </p:notesMasterIdLst>
  <p:sldIdLst>
    <p:sldId xmlns:r="http://schemas.openxmlformats.org/officeDocument/2006/relationships" id="256" r:id="Rf2ad860a93e14d86"/>
    <p:sldId xmlns:r="http://schemas.openxmlformats.org/officeDocument/2006/relationships" id="257" r:id="R70c80ff65c5d43b1"/>
    <p:sldId xmlns:r="http://schemas.openxmlformats.org/officeDocument/2006/relationships" id="258" r:id="R25155f72bdf843af"/>
    <p:sldId xmlns:r="http://schemas.openxmlformats.org/officeDocument/2006/relationships" id="259" r:id="R85e1da4c41714c66"/>
    <p:sldId xmlns:r="http://schemas.openxmlformats.org/officeDocument/2006/relationships" id="260" r:id="Rbb11c51531d3421e"/>
    <p:sldId xmlns:r="http://schemas.openxmlformats.org/officeDocument/2006/relationships" id="261" r:id="Rdbe0d33e3d72450a"/>
    <p:sldId xmlns:r="http://schemas.openxmlformats.org/officeDocument/2006/relationships" id="262" r:id="R4955b6561aa84485"/>
    <p:sldId xmlns:r="http://schemas.openxmlformats.org/officeDocument/2006/relationships" id="263" r:id="R025dc69e2db2470a"/>
    <p:sldId xmlns:r="http://schemas.openxmlformats.org/officeDocument/2006/relationships" id="264" r:id="R2293d65f5ae94966"/>
    <p:sldId xmlns:r="http://schemas.openxmlformats.org/officeDocument/2006/relationships" id="265" r:id="Re63dcb39d72440a8"/>
    <p:sldId xmlns:r="http://schemas.openxmlformats.org/officeDocument/2006/relationships" id="266" r:id="R6d9932790982409a"/>
    <p:sldId xmlns:r="http://schemas.openxmlformats.org/officeDocument/2006/relationships" id="267" r:id="R3372c6135f4b41b4"/>
    <p:sldId xmlns:r="http://schemas.openxmlformats.org/officeDocument/2006/relationships" id="268" r:id="Rd6bec85395fe489b"/>
    <p:sldId xmlns:r="http://schemas.openxmlformats.org/officeDocument/2006/relationships" id="269" r:id="R46bf0c102cfd4c15"/>
    <p:sldId xmlns:r="http://schemas.openxmlformats.org/officeDocument/2006/relationships" id="270" r:id="Rf1a1acf8b2664765"/>
    <p:sldId xmlns:r="http://schemas.openxmlformats.org/officeDocument/2006/relationships" id="271" r:id="Rf906dae9946545a3"/>
    <p:sldId xmlns:r="http://schemas.openxmlformats.org/officeDocument/2006/relationships" id="272" r:id="Rc771de69ef124cb3"/>
    <p:sldId xmlns:r="http://schemas.openxmlformats.org/officeDocument/2006/relationships" id="273" r:id="R55e95b15956d4d02"/>
    <p:sldId xmlns:r="http://schemas.openxmlformats.org/officeDocument/2006/relationships" id="274" r:id="R769fa38153f44b82"/>
    <p:sldId xmlns:r="http://schemas.openxmlformats.org/officeDocument/2006/relationships" id="275" r:id="R939a0a0150e44106"/>
    <p:sldId xmlns:r="http://schemas.openxmlformats.org/officeDocument/2006/relationships" id="276" r:id="R2d8bc1d81c0f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d2b82fdc44a11" /><Relationship Type="http://schemas.openxmlformats.org/officeDocument/2006/relationships/slideMaster" Target="/ppt/slideMasters/slideMaster1.xml" Id="R1a2ca2a99ca241d4" /><Relationship Type="http://schemas.openxmlformats.org/officeDocument/2006/relationships/notesMaster" Target="/ppt/notesMasters/notesMaster1.xml" Id="R335728f0002f4f0c" /><Relationship Type="http://schemas.openxmlformats.org/officeDocument/2006/relationships/presProps" Target="/ppt/presProps.xml" Id="R4c489d26b4774091" /><Relationship Type="http://schemas.openxmlformats.org/officeDocument/2006/relationships/tableStyles" Target="/ppt/tableStyles.xml" Id="R73f8ee0719344053" /><Relationship Type="http://schemas.openxmlformats.org/officeDocument/2006/relationships/slide" Target="/ppt/slides/slide1.xml" Id="Rf2ad860a93e14d86" /><Relationship Type="http://schemas.openxmlformats.org/officeDocument/2006/relationships/slide" Target="/ppt/slides/slide2.xml" Id="R70c80ff65c5d43b1" /><Relationship Type="http://schemas.openxmlformats.org/officeDocument/2006/relationships/slide" Target="/ppt/slides/slide3.xml" Id="R25155f72bdf843af" /><Relationship Type="http://schemas.openxmlformats.org/officeDocument/2006/relationships/slide" Target="/ppt/slides/slide4.xml" Id="R85e1da4c41714c66" /><Relationship Type="http://schemas.openxmlformats.org/officeDocument/2006/relationships/slide" Target="/ppt/slides/slide5.xml" Id="Rbb11c51531d3421e" /><Relationship Type="http://schemas.openxmlformats.org/officeDocument/2006/relationships/slide" Target="/ppt/slides/slide6.xml" Id="Rdbe0d33e3d72450a" /><Relationship Type="http://schemas.openxmlformats.org/officeDocument/2006/relationships/slide" Target="/ppt/slides/slide7.xml" Id="R4955b6561aa84485" /><Relationship Type="http://schemas.openxmlformats.org/officeDocument/2006/relationships/slide" Target="/ppt/slides/slide8.xml" Id="R025dc69e2db2470a" /><Relationship Type="http://schemas.openxmlformats.org/officeDocument/2006/relationships/slide" Target="/ppt/slides/slide9.xml" Id="R2293d65f5ae94966" /><Relationship Type="http://schemas.openxmlformats.org/officeDocument/2006/relationships/slide" Target="/ppt/slides/slide10.xml" Id="Re63dcb39d72440a8" /><Relationship Type="http://schemas.openxmlformats.org/officeDocument/2006/relationships/slide" Target="/ppt/slides/slide11.xml" Id="R6d9932790982409a" /><Relationship Type="http://schemas.openxmlformats.org/officeDocument/2006/relationships/slide" Target="/ppt/slides/slide12.xml" Id="R3372c6135f4b41b4" /><Relationship Type="http://schemas.openxmlformats.org/officeDocument/2006/relationships/slide" Target="/ppt/slides/slide13.xml" Id="Rd6bec85395fe489b" /><Relationship Type="http://schemas.openxmlformats.org/officeDocument/2006/relationships/slide" Target="/ppt/slides/slide14.xml" Id="R46bf0c102cfd4c15" /><Relationship Type="http://schemas.openxmlformats.org/officeDocument/2006/relationships/slide" Target="/ppt/slides/slide15.xml" Id="Rf1a1acf8b2664765" /><Relationship Type="http://schemas.openxmlformats.org/officeDocument/2006/relationships/slide" Target="/ppt/slides/slide16.xml" Id="Rf906dae9946545a3" /><Relationship Type="http://schemas.openxmlformats.org/officeDocument/2006/relationships/slide" Target="/ppt/slides/slide17.xml" Id="Rc771de69ef124cb3" /><Relationship Type="http://schemas.openxmlformats.org/officeDocument/2006/relationships/slide" Target="/ppt/slides/slide18.xml" Id="R55e95b15956d4d02" /><Relationship Type="http://schemas.openxmlformats.org/officeDocument/2006/relationships/slide" Target="/ppt/slides/slide19.xml" Id="R769fa38153f44b82" /><Relationship Type="http://schemas.openxmlformats.org/officeDocument/2006/relationships/slide" Target="/ppt/slides/slide20.xml" Id="R939a0a0150e44106" /><Relationship Type="http://schemas.openxmlformats.org/officeDocument/2006/relationships/slide" Target="/ppt/slides/slide21.xml" Id="R2d8bc1d81c0f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f11e0bad55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358077bf04475c" /><Relationship Type="http://schemas.openxmlformats.org/officeDocument/2006/relationships/notesMaster" Target="/ppt/notesMasters/notesMaster1.xml" Id="Rca89aad4e3ca4b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b2b266c3974a4c" /><Relationship Type="http://schemas.openxmlformats.org/officeDocument/2006/relationships/notesMaster" Target="/ppt/notesMasters/notesMaster1.xml" Id="R0f54a4dcd7354c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434620d0540cd" /><Relationship Type="http://schemas.openxmlformats.org/officeDocument/2006/relationships/notesMaster" Target="/ppt/notesMasters/notesMaster1.xml" Id="Rbddc198403e448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ee7041037b446d" /><Relationship Type="http://schemas.openxmlformats.org/officeDocument/2006/relationships/notesMaster" Target="/ppt/notesMasters/notesMaster1.xml" Id="R85b9cecb08f34a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320094d3524773" /><Relationship Type="http://schemas.openxmlformats.org/officeDocument/2006/relationships/notesMaster" Target="/ppt/notesMasters/notesMaster1.xml" Id="R0d4a80e8955a4f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c2a5f9e9664298" /><Relationship Type="http://schemas.openxmlformats.org/officeDocument/2006/relationships/notesMaster" Target="/ppt/notesMasters/notesMaster1.xml" Id="R2ebf9aedf8584b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350ef10aaf43e2" /><Relationship Type="http://schemas.openxmlformats.org/officeDocument/2006/relationships/notesMaster" Target="/ppt/notesMasters/notesMaster1.xml" Id="R663c0c259b0241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4a9fecd01043c8" /><Relationship Type="http://schemas.openxmlformats.org/officeDocument/2006/relationships/notesMaster" Target="/ppt/notesMasters/notesMaster1.xml" Id="R69bbefd126ff4b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83c02caf194525" /><Relationship Type="http://schemas.openxmlformats.org/officeDocument/2006/relationships/notesMaster" Target="/ppt/notesMasters/notesMaster1.xml" Id="R1baa86c548864c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cf5d216d7d413f" /><Relationship Type="http://schemas.openxmlformats.org/officeDocument/2006/relationships/notesMaster" Target="/ppt/notesMasters/notesMaster1.xml" Id="Rce7762c6076443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7828183867473e" /><Relationship Type="http://schemas.openxmlformats.org/officeDocument/2006/relationships/notesMaster" Target="/ppt/notesMasters/notesMaster1.xml" Id="Rcf837a8c1d2449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45a6ef71d243ff" /><Relationship Type="http://schemas.openxmlformats.org/officeDocument/2006/relationships/notesMaster" Target="/ppt/notesMasters/notesMaster1.xml" Id="R4a29f074b64740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00b5d7e6f74ebb" /><Relationship Type="http://schemas.openxmlformats.org/officeDocument/2006/relationships/notesMaster" Target="/ppt/notesMasters/notesMaster1.xml" Id="Rded7964c06d346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c5b0663160497e" /><Relationship Type="http://schemas.openxmlformats.org/officeDocument/2006/relationships/notesMaster" Target="/ppt/notesMasters/notesMaster1.xml" Id="R6820a29c423143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a50a458f7742b5" /><Relationship Type="http://schemas.openxmlformats.org/officeDocument/2006/relationships/notesMaster" Target="/ppt/notesMasters/notesMaster1.xml" Id="Re1ab0fe7badd44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eb07482678438e" /><Relationship Type="http://schemas.openxmlformats.org/officeDocument/2006/relationships/notesMaster" Target="/ppt/notesMasters/notesMaster1.xml" Id="R6c24f1be237c47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198cdb1f2746d3" /><Relationship Type="http://schemas.openxmlformats.org/officeDocument/2006/relationships/notesMaster" Target="/ppt/notesMasters/notesMaster1.xml" Id="Rb5e9015b2c1a48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c781fb88114e3f" /><Relationship Type="http://schemas.openxmlformats.org/officeDocument/2006/relationships/notesMaster" Target="/ppt/notesMasters/notesMaster1.xml" Id="Rc569628f25a541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1c3d23f2ad402e" /><Relationship Type="http://schemas.openxmlformats.org/officeDocument/2006/relationships/notesMaster" Target="/ppt/notesMasters/notesMaster1.xml" Id="Rbd719bab70254f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07713f561744c6" /><Relationship Type="http://schemas.openxmlformats.org/officeDocument/2006/relationships/notesMaster" Target="/ppt/notesMasters/notesMaster1.xml" Id="Rb35a6a1f986f46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9fae4ac46d41be" /><Relationship Type="http://schemas.openxmlformats.org/officeDocument/2006/relationships/notesMaster" Target="/ppt/notesMasters/notesMaster1.xml" Id="R2005962dcc604d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（0:15）各位评委好，我们的作品是职途智航——高校毕业生就业治理智能体，参加智能社会治理赛道。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（0:05）汇报分五部分，其中第四部分现场演示系统。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（0:10）程林负责全部开发与仿真建模，李耀老师把关就业业务逻辑。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（0:30）稳就业是民生重点。学校层面的真问题是三问：资源投向谁、怎么投、投了有没有用。经验管理回答不了，而且要守住公平、隐私、可解释三条底线。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（0:20）在已运行的就业服务系统上，新增预警、画像、仿真、报告四个治理模块，形成六环节闭环。原则是模型辅助、人工决策。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（0:25）前后端分离，业务数据留在 PostgreSQL。治理三个模块都在后端：风险模型、仿真引擎、报告生成器。四方分工：规则算分、ABM 推演、大模型只解读、人做决定。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（0:30）风险分是六个因子相加，满分 100。每个非零因子对应一条原因和一条干预。输入在结构上不含性别、籍贯等受保护属性，也不含学号和联系方式。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（0:20）仿真里的合成学生直接调用线上的匹配规则和风险模型。我们用 500 组随机样本做等价性测试，仿真评分器和业务评分器逐分一致。所以仿真里的“达标”“高风险”和教师看到的是同一口径。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（0:30）三类主体：学生、教师、岗位市场。学生有主动性、学习率、城市弹性三个异质参数。每周按固定五步推进，所有随机性由种子派生，城市可见性和行动判定用独立随机流。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（0:20）每种策略只改动模型中的一条规则，这样策略之间的差异可以归因。输出六项指标，与业务系统同口径。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（0:30）默认 300 人、16 周、每个策略重复 10 次。用共同随机数让各策略面对同一批学生；报告 95% 置信区间，区间不重叠才说显著。模型检验六项全部做成自动化测试，每次改代码都会重跑。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（0:45）这是核心结果。岗位精准推送把匹配达成率从 53.4% 提到 56.7%，区间不重叠，显著。精准帮扶不提高平均匹配率，但把高风险学生从 6.7 人降到 2.9 人，显著。两类策略对应两类治理目标。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（0:20）左图匹配率逐周上升，推送一直领先。右图第 0 周有 71 名高风险学生，第 14 周起小幅回升，是距毕业 6 个月仍在准备期的学生触发阶段因子，属于模型给出的预警信号。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（0:25）单因素轮换扫描三个参数。岗位供给是整体匹配的主导因素，供给从 0.2 到 1.2，基线匹配率从 18.9% 升到 60.8%。精准帮扶降低高风险的效果在大多数取值下稳健。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（2:30 演示）切到浏览器。教师：风险预警展开演示学生A；管理员：群体画像切合成数据 → 策略仿真默认参数勾四策略运行（数字与第 12 页一致）→ 生成策略报告 → 历史记录采纳 → 审计页。失败时切附录 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（0:25）隐私和安全写进了接口：小样本抑制、越权 403、审计最小化、大模型降级。五点创新：同源建模、无受保护属性的可解释预警、统计上诚实、人工决策闭环、轻量可复制。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（0:20）如实说明局限：合成数据、参数未校准、结构假设。后续用脱敏历史数据校准。谢谢各位评委。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备用：评委问匹配规则时使用。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备用：评委问大模型作用时使用。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备用：评委问数据与权限时使用。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现场演示失败时使用，按顺序讲解四张截图。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cfa23be4046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afbfe5c8e42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08a428ca44b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8dd21ab9140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4805690fc4f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60d1726fd48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A9CC9B-67D9-47FA-9E9F-CD3FA853F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DBD60F-19DD-4AC5-BCEB-928936D1F5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A766DA-96D1-49DF-B5D4-FF1601E52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D644DF-C548-4399-AE44-8F4090F4B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5B66DC-BB49-4CF0-A7AD-3DDAD6821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7E5B2D-20D3-4C59-8921-979C28EB42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0BD971-55AC-4CE7-A35B-0728B2516B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5F6865-6285-45E1-AC76-181D84EF30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33BCA5-C290-456E-B7AF-07166DCFC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878D07-76FE-43AB-BF07-C5DF7ABB9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a53aa722134367" /><Relationship Type="http://schemas.openxmlformats.org/officeDocument/2006/relationships/slideLayout" Target="/ppt/slideLayouts/slideLayout1.xml" Id="R2be60bccd3a846db" /><Relationship Type="http://schemas.openxmlformats.org/officeDocument/2006/relationships/slideLayout" Target="/ppt/slideLayouts/slideLayout2.xml" Id="R9fb2a9c32a754a74" /><Relationship Type="http://schemas.openxmlformats.org/officeDocument/2006/relationships/slideLayout" Target="/ppt/slideLayouts/slideLayout3.xml" Id="R40796b8499994842" /><Relationship Type="http://schemas.openxmlformats.org/officeDocument/2006/relationships/slideLayout" Target="/ppt/slideLayouts/slideLayout4.xml" Id="R27981febfde148cf" /><Relationship Type="http://schemas.openxmlformats.org/officeDocument/2006/relationships/slideLayout" Target="/ppt/slideLayouts/slideLayout5.xml" Id="R519682042b5b44bf" /><Relationship Type="http://schemas.openxmlformats.org/officeDocument/2006/relationships/slideLayout" Target="/ppt/slideLayouts/slideLayout6.xml" Id="Rdaa12b6695594b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e60bccd3a846db"/>
    <p:sldLayoutId xmlns:r="http://schemas.openxmlformats.org/officeDocument/2006/relationships" id="2147483650" r:id="R9fb2a9c32a754a74"/>
    <p:sldLayoutId xmlns:r="http://schemas.openxmlformats.org/officeDocument/2006/relationships" id="2147483651" r:id="R40796b8499994842"/>
    <p:sldLayoutId xmlns:r="http://schemas.openxmlformats.org/officeDocument/2006/relationships" id="2147483652" r:id="R27981febfde148cf"/>
    <p:sldLayoutId xmlns:r="http://schemas.openxmlformats.org/officeDocument/2006/relationships" id="2147483653" r:id="R519682042b5b44bf"/>
    <p:sldLayoutId xmlns:r="http://schemas.openxmlformats.org/officeDocument/2006/relationships" id="2147483654" r:id="Rdaa12b6695594b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beac0536a4f5f" /><Relationship Type="http://schemas.openxmlformats.org/officeDocument/2006/relationships/notesSlide" Target="/ppt/notesSlides/notesSlide1.xml" Id="Rd4fea448949c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d67a365184bbe" /><Relationship Type="http://schemas.openxmlformats.org/officeDocument/2006/relationships/notesSlide" Target="/ppt/notesSlides/notesSlide2.xml" Id="Ra328619eda654e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67b1dcd22461f" /><Relationship Type="http://schemas.openxmlformats.org/officeDocument/2006/relationships/notesSlide" Target="/ppt/notesSlides/notesSlide3.xml" Id="R253043040ba040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44df7e4d540b4" /><Relationship Type="http://schemas.openxmlformats.org/officeDocument/2006/relationships/notesSlide" Target="/ppt/notesSlides/notesSlide4.xml" Id="R7968208a241c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e90459da242bf" /><Relationship Type="http://schemas.openxmlformats.org/officeDocument/2006/relationships/image" Target="/ppt/media/image.png" Id="Ra672c8d31f704d3d" /><Relationship Type="http://schemas.openxmlformats.org/officeDocument/2006/relationships/notesSlide" Target="/ppt/notesSlides/notesSlide5.xml" Id="Rab4d23ecbc684a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f179e1b494c21" /><Relationship Type="http://schemas.openxmlformats.org/officeDocument/2006/relationships/notesSlide" Target="/ppt/notesSlides/notesSlide6.xml" Id="Rd21db2b9ee264b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abf0219f04066" /><Relationship Type="http://schemas.openxmlformats.org/officeDocument/2006/relationships/notesSlide" Target="/ppt/notesSlides/notesSlide7.xml" Id="Rde6c7f0d018c43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589f69628466b" /><Relationship Type="http://schemas.openxmlformats.org/officeDocument/2006/relationships/notesSlide" Target="/ppt/notesSlides/notesSlide8.xml" Id="R0f9131c3d144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6753c54fa4d11" /><Relationship Type="http://schemas.openxmlformats.org/officeDocument/2006/relationships/image" Target="/ppt/media/image2.png" Id="R23256252ddd843c8" /><Relationship Type="http://schemas.openxmlformats.org/officeDocument/2006/relationships/notesSlide" Target="/ppt/notesSlides/notesSlide9.xml" Id="Rbd985f2daa094f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561885dcf4163" /><Relationship Type="http://schemas.openxmlformats.org/officeDocument/2006/relationships/notesSlide" Target="/ppt/notesSlides/notesSlide10.xml" Id="Rf66486c3bba547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50d80bb504146" /><Relationship Type="http://schemas.openxmlformats.org/officeDocument/2006/relationships/notesSlide" Target="/ppt/notesSlides/notesSlide11.xml" Id="R0e911e4467b94a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984bc32a24303" /><Relationship Type="http://schemas.openxmlformats.org/officeDocument/2006/relationships/image" Target="/ppt/media/image3.png" Id="Reab85267bc734892" /><Relationship Type="http://schemas.openxmlformats.org/officeDocument/2006/relationships/notesSlide" Target="/ppt/notesSlides/notesSlide12.xml" Id="R2e5d6f0332014b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f331463a345cb" /><Relationship Type="http://schemas.openxmlformats.org/officeDocument/2006/relationships/image" Target="/ppt/media/image4.png" Id="Rfc895519e780453c" /><Relationship Type="http://schemas.openxmlformats.org/officeDocument/2006/relationships/image" Target="/ppt/media/image5.png" Id="R065d42c143124bc6" /><Relationship Type="http://schemas.openxmlformats.org/officeDocument/2006/relationships/notesSlide" Target="/ppt/notesSlides/notesSlide13.xml" Id="R55f28aedb7074b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bad968877401f" /><Relationship Type="http://schemas.openxmlformats.org/officeDocument/2006/relationships/image" Target="/ppt/media/image6.png" Id="R43b61d5b226347b6" /><Relationship Type="http://schemas.openxmlformats.org/officeDocument/2006/relationships/notesSlide" Target="/ppt/notesSlides/notesSlide14.xml" Id="Re2d45e7027b947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8b747ee634b35" /><Relationship Type="http://schemas.openxmlformats.org/officeDocument/2006/relationships/notesSlide" Target="/ppt/notesSlides/notesSlide15.xml" Id="R41b49a1be3c244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e3ed4b1f14c89" /><Relationship Type="http://schemas.openxmlformats.org/officeDocument/2006/relationships/notesSlide" Target="/ppt/notesSlides/notesSlide16.xml" Id="R6571d6ac8d0d41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53180dea94da7" /><Relationship Type="http://schemas.openxmlformats.org/officeDocument/2006/relationships/notesSlide" Target="/ppt/notesSlides/notesSlide17.xml" Id="Race40545aaee48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78976f019483e" /><Relationship Type="http://schemas.openxmlformats.org/officeDocument/2006/relationships/notesSlide" Target="/ppt/notesSlides/notesSlide18.xml" Id="R3050769d7d5842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f93f0fd754053" /><Relationship Type="http://schemas.openxmlformats.org/officeDocument/2006/relationships/notesSlide" Target="/ppt/notesSlides/notesSlide19.xml" Id="R42188ad1fee3497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1de268c844759" /><Relationship Type="http://schemas.openxmlformats.org/officeDocument/2006/relationships/notesSlide" Target="/ppt/notesSlides/notesSlide20.xml" Id="R5eb4a86cbef948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ee0ddfc2644f1" /><Relationship Type="http://schemas.openxmlformats.org/officeDocument/2006/relationships/image" Target="/ppt/media/image7.png" Id="R6ddb852fc6214852" /><Relationship Type="http://schemas.openxmlformats.org/officeDocument/2006/relationships/image" Target="/ppt/media/image8.png" Id="R4da4ae19f3e04fac" /><Relationship Type="http://schemas.openxmlformats.org/officeDocument/2006/relationships/image" Target="/ppt/media/image9.png" Id="R864db65381314e65" /><Relationship Type="http://schemas.openxmlformats.org/officeDocument/2006/relationships/image" Target="/ppt/media/image10.png" Id="R36382ba1fb5e4143" /><Relationship Type="http://schemas.openxmlformats.org/officeDocument/2006/relationships/notesSlide" Target="/ppt/notesSlides/notesSlide21.xml" Id="Rb14fdc196172473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0275A"/>
            </a:gs>
            <a:gs pos="100000">
              <a:srgbClr val="2457D6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4434D-0702-414F-9350-6AE775F0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6618"/>
          </a:bodyPr>
          <a:lstStyle xmlns:a="http://schemas.openxmlformats.org/drawingml/2006/main">
            <a:defPPr algn="l">
              <a:def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 ·  智能社会治理赛道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A120A-2287-46FC-8A13-4B629A13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6618"/>
          </a:bodyPr>
          <a:lstStyle xmlns:a="http://schemas.openxmlformats.org/drawingml/2006/main">
            <a:defPPr algn="ctr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68707-B027-4874-95DB-DF11BAC8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9638"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高校毕业生就业治理智能体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B40F6-880E-4E5E-8EA9-CBCEACC9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C9D8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C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9D8FF"/>
                </a:solidFill>
                <a:latin typeface="Microsoft YaHei"/>
                <a:ea typeface="Microsoft YaHei"/>
                <a:cs typeface="Microsoft YaHei"/>
              </a:rPr>
              <a:t>可解释风险预警 · 多智能体仿真推演 · 人工决策闭环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F0789-B912-4093-B3D2-A83B2AC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48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FA2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A5EC2-5EB2-4535-BEAF-90B06C1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309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参赛队：哗啦啦的陶喆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成都信息工程大学</a:t>
            </a:r>
          </a:p>
        </p:txBody>
      </p:sp>
    </p:spTree>
    <p:extLst>
      <p:ext uri="{BB962C8B-B14F-4D97-AF65-F5344CB8AC3E}">
        <p14:creationId xmlns:p14="http://schemas.microsoft.com/office/powerpoint/2010/main" val="2103629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C24B9-2CAC-4921-99B7-386CE61B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5ED3F-C6F1-4A39-93D0-E1B33487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BE0AF-FCFA-4EE7-B1C3-1067E5EA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2A96D-7066-4A4B-B0B4-176B70B4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F49A7-D397-42B4-9724-BC8FE7B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BD55B-6AF8-44B0-A323-2E1EB99F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25B4E-6E19-4D7A-9E4C-6DC45B3C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5017B-7603-410E-AEF2-869F802A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B5E62-2EDB-427F-814B-4B0805F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42717-1AD2-4970-9B96-1A9221D3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团队与问题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C4418-FA7F-4C89-A601-EA569F1B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8F991-2E0F-4E60-8211-4A11D97C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86FC7-3BCD-43BA-B467-12FA4EFC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86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模型设计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C123F-5B55-462C-85F8-3748023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1C5F5-D676-43E2-9A50-49928FBC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7FC2B-90A9-4F3E-AD22-1C02BF98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仿真实验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0A52D-E3B8-43D7-890E-5AC478FE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40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D3A95-BC95-45C5-9DE9-52B1DF1C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43BAC-52F3-427D-B13C-4B4A236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系统演示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4F504-4C1A-4148-8C25-6153DCD0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A1462-A720-4289-BFC1-A80F53BF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C9211-42B8-4C05-9A1B-CE3266AE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86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创新与总结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EA426-5F2F-4B0C-99CB-6C584DFB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主线：问题 → 模型 → 证据 → 价值</a:t>
            </a:r>
          </a:p>
        </p:txBody>
      </p:sp>
    </p:spTree>
    <p:extLst>
      <p:ext uri="{BB962C8B-B14F-4D97-AF65-F5344CB8AC3E}">
        <p14:creationId xmlns:p14="http://schemas.microsoft.com/office/powerpoint/2010/main" val="115662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EC5A8-7473-40A9-87C7-7ACBB18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D5E03-5850-450E-8A22-1254F921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269A-3266-4C98-A67F-76B5890A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F8A5E-ED20-4B89-BF19-B10F99E1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团队介绍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B52AC-0A50-4B06-9882-27152F0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E6F3F-81C0-4402-AE2E-B064183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FF8B6-710C-4824-91AF-D1796BDC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0041A-1A37-42FB-BE51-91377F79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67FE7-8B4D-416E-B25E-C5B10A60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907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992"/>
          </a:bodyPr>
          <a:lstStyle xmlns:a="http://schemas.openxmlformats.org/drawingml/2006/main">
            <a:defPPr algn="l"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程林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ACB50-47DC-41C9-824D-549BF785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0515"/>
          </a:bodyPr>
          <a:lstStyle xmlns:a="http://schemas.openxmlformats.org/drawingml/2006/main">
            <a:defPPr algn="l"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队长 · 开发与建模负责人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796F1-E5F1-4D8A-8301-28CF42EE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191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成都信息工程大学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空间信息与数字技术 · 2024级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负责需求、全栈开发、风险模型、ABM 仿真引擎与实验设计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0DA37-AF02-4B82-9E7D-A08572DE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44916-DFC7-4683-96C7-A5B47CB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992"/>
          </a:bodyPr>
          <a:lstStyle xmlns:a="http://schemas.openxmlformats.org/drawingml/2006/main">
            <a:defPPr algn="l"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李耀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3BD9C-D9DE-4615-A43D-2758E769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0515"/>
          </a:bodyPr>
          <a:lstStyle xmlns:a="http://schemas.openxmlformats.org/drawingml/2006/main">
            <a:defPPr algn="l">
              <a:defRPr sz="13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92BDF-FFC0-4670-97C3-2C449C46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191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成都信息工程大学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就业指导与项目指导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负责就业业务边界、治理场景与成果呈现指导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D4AB8-2076-4CED-9174-2594E312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分工特点：一人完成全栈开发与仿真建模，指导教师把关就业治理业务与展示表达</a:t>
            </a:r>
          </a:p>
        </p:txBody>
      </p:sp>
    </p:spTree>
    <p:extLst>
      <p:ext uri="{BB962C8B-B14F-4D97-AF65-F5344CB8AC3E}">
        <p14:creationId xmlns:p14="http://schemas.microsoft.com/office/powerpoint/2010/main" val="1626163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291F3-0669-48FB-96F9-CBC881BD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D35DC-3866-4E91-97A6-1D09D033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62393-E2F2-492C-9F30-F829B23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AB40A-549E-4C28-8D37-0B148731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治理问题：从服务个体到治理群体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49F76-2966-4F28-87F0-E2C91581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CF654-738A-47B9-B725-14AF135E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5FD4D-0222-4DD1-92B8-15352EBA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C78FF-02F6-4AB8-A7C6-81816974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238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87C32-42BB-4544-B6D7-FC8E7367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3238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《“十四五”就业促进规划》将高校毕业生列为青年就业重点群体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教育部每年部署毕业生就业创业促进行动，要求健全指导服务、加强精准帮扶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前期“职途智航”已解决学生个体“如何准备”，学校层面缺少量化治理工具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3847F-7111-479D-ABDC-DC2331E6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7143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治理三问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39C80-979D-4C2A-9325-9FE6132F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1428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投向谁？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94BEF-B3EB-420D-972D-59DDD2C7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3429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风险识别依赖教师主观判断，缺少统一、可解释的分级口径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B5B29-F3AD-4861-8715-E27BE45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905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A8D7C2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可解释风险预警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71E4B-2649-4CDE-A616-74CC577599D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29750" y="21621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82280-D136-4180-996F-7974013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1428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怎么投？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8ED69-3EDC-4A85-B89A-B97C94A8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3429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培训、帮扶、岗位推送的效果只能事后统计，投入前无法比较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6C599-9464-46D7-9D38-A27BC5C4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905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A8D7C2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多智能体仿真推演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CD065-60A9-4073-9023-CF115604CAB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429750" y="30765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7331B-D30F-46E6-8581-9984F8F4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1428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有没有用？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4E672-7314-413A-A352-32100909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3429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随机波动容易被当成策略效果，结论缺少统计依据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7957D-5A7B-4E99-B8CC-0E8DB5E7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1905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A8D7C2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置信区间 + 模型检验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B54F0-EA92-4536-B795-B2243472532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429750" y="39909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C5ECA-D5A4-4D43-BC4F-93FC10B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约束：公平（不用受保护属性） · 隐私（最小数据、小样本抑制） · 可解释（每一分可追溯） · 人工决策</a:t>
            </a:r>
          </a:p>
        </p:txBody>
      </p:sp>
    </p:spTree>
    <p:extLst>
      <p:ext uri="{BB962C8B-B14F-4D97-AF65-F5344CB8AC3E}">
        <p14:creationId xmlns:p14="http://schemas.microsoft.com/office/powerpoint/2010/main" val="930522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59C5B-0527-4F03-96C4-4B3CF3F7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CAADD-6DE7-4B96-A69F-31E5B51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77CEA-EEFF-4FE3-A4C7-87D6516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AB40-D0A8-4187-A48C-51B257F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作品定位与治理闭环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197B2-A2A3-46BA-A7CB-0C18007C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B03D8-41E3-4B1F-A727-5A3FAA7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EBF21-247E-4119-BFBF-78A571A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EE411-E778-4BE8-97BB-16D126E2A6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2c8d31f704d3d"/>
          <a:stretch xmlns:a="http://schemas.openxmlformats.org/drawingml/2006/main"/>
        </p:blipFill>
        <p:spPr>
          <a:xfrm xmlns:a="http://schemas.openxmlformats.org/drawingml/2006/main">
            <a:off x="533400" y="1257445"/>
            <a:ext cx="7239000" cy="396210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0A1FF-7175-49B9-BF2A-0CBBB350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5623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三类角色在闭环中的位置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046AC-1EA2-45F2-B346-EE55B91E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5623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4BC9E-82C0-4912-8640-AA40BA64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5623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职业画像 · 岗位匹配 · 行动计划（原有功能）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63182-5BD7-4281-9D7B-C8DC6218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5623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就业指导教师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6FA3D-DDB1-4DFB-854A-4766E8F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5623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风险预警：按风险排序授权学生，逐因子拆解并给出干预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AB3AA-2502-4B78-A6CD-2C83C1D9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35623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就业管理员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B5427-1E49-4683-ACDB-1E55DCFF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35623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群体画像 · 策略仿真 · 策略报告 · 采纳留痕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F639B-FAF1-40C4-9CFD-3106CD0C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模型辅助、人工决策：采纳只写审计，系统不自动给学生发消息或修改计划</a:t>
            </a:r>
          </a:p>
        </p:txBody>
      </p:sp>
    </p:spTree>
    <p:extLst>
      <p:ext uri="{BB962C8B-B14F-4D97-AF65-F5344CB8AC3E}">
        <p14:creationId xmlns:p14="http://schemas.microsoft.com/office/powerpoint/2010/main" val="687733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60721-1FC7-4717-87E7-3B85BF87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C9E41-0B47-4A39-81A6-68F49F12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01A44-4553-4854-81FA-6D4CA27B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35751-DED7-4CF8-83CB-07115B41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系统架构与职责分工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60F79-749C-4796-B972-BCD5468F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E82AD-4601-444E-B9C4-7CAAD37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7803E-6CAE-455E-AD78-A04DCFE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4E5F6-37C6-41F8-A251-BDB2B942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47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A8E53-FC6F-44B3-9856-CED97042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33500"/>
            <a:ext cx="533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React + TypeScript：学生 / 教师 / 管理员三端；SVG 图表，无第三方图表库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81700-84D6-4700-89F7-727BB9C2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047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26FD6-6200-4ADA-9CA2-C013B1B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76450"/>
            <a:ext cx="533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1430">
            <a:solidFill>
              <a:srgbClr val="9ACFC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FastAPI：认证授权 · 岗位匹配 · 风险模型 · ABM 仿真引擎 · 确定性报告生成器 · 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6C6A3-4033-4896-8F37-2B0BAEF8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1047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C7DA0-9680-4450-B48D-DB690339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19400"/>
            <a:ext cx="533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PostgreSQL + Alembic：业务表 + simulation_runs（参数、种子、模型版本、结果）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31B40-A860-47FC-9617-5826D611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047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E4DB3-9A88-48F6-BAFB-06806B09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533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F0C47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SF-FastGPT：知识问答与报告文字解读，服务端调用，不直接访问业务库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9AC30-CB0B-4607-9796-A1276A7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413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四方分工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6C989-1516-416A-8D01-0CF2B0E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57BC7-6857-4860-9730-77A3CEE3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8003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岗位匹配与风险分，每一分可追溯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18F27-132F-4D22-92B2-6245D39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ABM 仿真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E25BE-5D48-4541-A948-8A06DAA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8003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投入前推演策略效果，输出置信区间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6FF11-9A1B-4AAD-9B89-E0A828E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5BD91-D7F7-4921-B175-A116D845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8003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只解读确定性报告，不产生任何数字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2E01C-C51A-4C03-901E-E8E8F7C0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A1C8A8-E0EE-4AD1-BDFC-872A599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8003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教师复核个体，管理员采纳策略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94A83-8114-4C54-8062-5BB7AC2B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>
            <a:defPPr algn="l"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CC900-CE54-4C03-8B58-BC9460B9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1428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群体画像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2445E-BB63-43E2-81EE-E699B64E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05350"/>
            <a:ext cx="1428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风险模型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9A24E-3F8E-47DE-9219-4F1A17E20B3B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209800" y="5105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62A97A-F068-4A13-ABF5-8646F3FA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05350"/>
            <a:ext cx="1428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推演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ABM 仿真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42022-B0A8-4F5C-BCF7-579B44BE0BB9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038600" y="5105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761B0-4A4F-4C02-B6CF-B88F2B1C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05350"/>
            <a:ext cx="1428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确定性报告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10B66-DDA5-4648-A7AB-82574DAA2766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867400" y="5105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13524-450A-44DB-8205-AFD391C3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428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人工采纳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CAFEA3-ED03-4216-8927-F6558C8128E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696200" y="5105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641777-C015-4EA3-AE08-CFADC55A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05350"/>
            <a:ext cx="1428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指导意见回流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4D6D4-09E7-4029-89FC-550663E0474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525000" y="5105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6295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385DD-19A0-4B21-89A4-DC30F4D0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DACB4-11C2-4559-B65C-69E37AB0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127B8-C49A-4E0E-9415-5620868A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53999-F40A-4286-92BE-1600C8B1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可解释就业准备度风险模型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B8343-17CC-4DC5-A882-7C79C84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9DAF9-4E32-46AD-8E94-CCE27C68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4305-405F-4191-B419-A464612B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6FBD7-F474-461F-860D-AC7AB6F7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R = F画像 + F匹配 + F缺口 + F阶段 + F计划 + F时效 ，R ∈ [0, 100]      高风险 R ≥ 60 · 中风险 35 ≤ R &lt; 60 · 低风险 R &lt; 35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F298A-A94B-4929-B771-0D62001D653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63738"/>
                <a:gridCol w="743857"/>
                <a:gridCol w="3719286"/>
                <a:gridCol w="1983619"/>
              </a:tblGrid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对应干预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画像完整度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无画像 25；技能 &lt; 3 项或无项目 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提醒完善职业画像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岗位匹配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最高匹配分 ≥ 70 为 0；50–69 为 12；&lt; 50 为 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组织岗位方向咨询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技能缺口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min(15, 5 × 最佳岗位缺口技能数)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推荐技能补强资源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求职阶段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探索期且距毕业 ≤ 12 月 20；准备期且 ≤ 6 月 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安排一对一生涯面谈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行动计划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尚未生成行动计划 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督促生成行动计划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画像时效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超过 30 天未更新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跟进近况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FC3A5-C5B2-49F7-ABFF-C832F3CC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76400"/>
            <a:ext cx="3048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36BDC-BDD9-4378-A71E-557B56A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纯函数：相同输入必得相同分数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输入不含性别、籍贯、家庭、健康、民族、政治面貌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接口不返回学号与联系方式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页面标注“仅辅助指导，不作评价或处分依据”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C52D9-EF2B-4E32-8F87-8395898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67250"/>
            <a:ext cx="3048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A8D7C2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同一模型两处使用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教师预警看板 + 仿真中每名合成学生每周的风险更新</a:t>
            </a:r>
          </a:p>
        </p:txBody>
      </p:sp>
    </p:spTree>
    <p:extLst>
      <p:ext uri="{BB962C8B-B14F-4D97-AF65-F5344CB8AC3E}">
        <p14:creationId xmlns:p14="http://schemas.microsoft.com/office/powerpoint/2010/main" val="864288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25F84-57FC-4A5F-BBE9-86D1FD70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558CB-350B-4611-8AAF-06E748B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2D14B-CFF5-44BC-8E86-35CBCA15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4DCE8-3758-40EA-B872-339B21E0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业务与仿真同源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69376-97D0-4D3F-AEB9-1E2A3214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3A376-7E51-4567-882A-E5C1A8C1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FAA67-0DDB-487E-89C1-06E43A6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D7FD3-7112-4882-8A38-C01FF288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476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>
            <a:defPPr algn="l"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6486B-D4C2-4F2A-A066-22137A8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4095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线上业务系统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C92CD-4992-484C-8873-5B365BA9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MatchingService：五维岗位匹配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风险模型：六因子加和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教师看板与管理员画像使用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4B76F-9905-42FD-8710-AF968797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476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1430">
            <a:solidFill>
              <a:srgbClr val="9ACFC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>
            <a:defPPr algn="l"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FB396-2B00-4180-9569-F43A0638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4095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ABM 仿真引擎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6E84D-79BC-453C-91F9-94AFE03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FastScorer：仿真高速评分器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直接调用同一风险模型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每名合成学生每周更新最佳匹配与风险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AA3F4-8B10-4802-9E97-6EFAC0DC0CB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43500" y="2619375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36D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BA6C5-CEFC-459C-87C5-528E46F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500 组随机样本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逐分一致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C14EA-7784-4984-9D8C-5305DF9D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S = 50·(命中技能/要求技能) + 20·[专业符合] + 15·(命中项目信号/项目信号数) + 5·[城市一致] + 10·[目标岗位相关]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6A76D-FD44-4B64-8E7B-6A0A732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意义：避免“仿真一套、业务一套”。仿真得出的“准备达标”“高风险”与教师在系统中看到的指标同一口径，推演结论可以直接对应到业务动作。</a:t>
            </a:r>
          </a:p>
        </p:txBody>
      </p:sp>
    </p:spTree>
    <p:extLst>
      <p:ext uri="{BB962C8B-B14F-4D97-AF65-F5344CB8AC3E}">
        <p14:creationId xmlns:p14="http://schemas.microsoft.com/office/powerpoint/2010/main" val="673972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BEBB4-B8D2-46B2-B729-79B74D07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228B8-8BF7-4786-93C2-58FE940E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A95E2-309F-4EDA-86A8-4768D686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7F23B-146E-4A2E-9B9A-A9FA5F8D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多智能体仿真模型：主体与周推进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AE488-AE76-482A-9DC0-61A7BEBB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A2042-0D57-4C35-BA33-9139EF9C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53BAD-4920-4432-8136-48BFFA34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BB554-71D2-48AF-8CD3-C1238B2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095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学生智能体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22263-1627-4F2E-898C-C5A392C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09575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专业、技能 2–5 项、项目、目标岗位/城市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学习率 λ ~ U(0.15, 0.45)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主动性 θ ~ U(0.3, 0.9)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城市弹性 φ ~ U(0, 1)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初始阶段 探索 50% · 准备 35% · 求职 15%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68BE9-3E3A-44FA-9F19-44C7B2D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095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24D03-EDD7-49B7-A710-278C8942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095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每周可用会谈 C = 教师数 × 每周会谈数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默认 4 × 8；被服务者 θ + 0.15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9D991-474E-466F-A960-18209A3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095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岗位市场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AEEAA-6B88-46EC-B9FB-A0E1F2D3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4095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已发布岗位模板，覆盖多城市与专业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容量 ⌈N · ρ / M⌉，默认 ρ = 0.8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F2137-F9DC-4192-B3E7-68CCE1B04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56252ddd843c8"/>
          <a:stretch xmlns:a="http://schemas.openxmlformats.org/drawingml/2006/main"/>
        </p:blipFill>
        <p:spPr>
          <a:xfrm xmlns:a="http://schemas.openxmlformats.org/drawingml/2006/main">
            <a:off x="4876800" y="1446260"/>
            <a:ext cx="6781800" cy="247958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F99BB-58A1-47FD-89B1-BFB1FAEB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4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① 教师服务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A3DE3-29D1-47C3-9883-4E737AF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55054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按策略选学生，已匹配者不占会谈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A6D9F-CC30-470A-83FB-B5D29B6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86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② 学生行动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1ABEA-F150-41D1-9090-A736391E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55054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以概率 θ 行动，按 λ 习得首个缺口技能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07882-5E77-4D38-B060-2DDC576A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244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③ 投递匹配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F1DA1-62BC-4CE9-AF46-38246FA2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24450"/>
            <a:ext cx="55054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向可见且有容量的前 3 岗投递，≥ 60 分达成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33DFD-5CB1-43A5-ABB5-29A5441D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626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④ 城市可见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68BEA-BD52-45DD-AD18-52B5C9A4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62600"/>
            <a:ext cx="55054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以概率 φ 看全城岗位（独立随机流）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96F03-ED46-49DD-B8A9-D8DF08F6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007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⑤ 时间推进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6E5C3-F6F9-4FD5-8600-1147FC4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000750"/>
            <a:ext cx="55054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距毕业 −0.25 月，调用业务风险模型更新</a:t>
            </a:r>
          </a:p>
        </p:txBody>
      </p:sp>
    </p:spTree>
    <p:extLst>
      <p:ext uri="{BB962C8B-B14F-4D97-AF65-F5344CB8AC3E}">
        <p14:creationId xmlns:p14="http://schemas.microsoft.com/office/powerpoint/2010/main" val="1746932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66E1D-5F58-4451-B8FC-03C3FE74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4D532-2EE8-4239-A8B8-23257861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77FCC-5479-42F1-974D-464D6015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C31CE-A9AF-45FD-AB6A-CCD329FC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治理策略与输出指标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970BE-1D53-43C3-BD79-6BE75F61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85502-8505-4327-AFA7-06BC5830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14493-33DD-49A5-B62B-D852ACC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445A6-88BE-4CAB-A74A-0F0C66D7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096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 2  治理策略：对模型规则的最小改动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27B58-2A41-4F85-848C-6859935BC2CB}"/>
              </a:ext>
            </a:extLst>
          </p:cNvPr>
          <p:cNvGraphicFramePr/>
          <p:nvPr/>
        </p:nvGraphicFramePr>
        <p:xfrm>
          <a:off xmlns:a="http://schemas.openxmlformats.org/drawingml/2006/main" x="533400" y="1638300"/>
          <a:ext xmlns:a="http://schemas.openxmlformats.org/drawingml/2006/main" cx="6096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7739"/>
                <a:gridCol w="1987826"/>
                <a:gridCol w="2650435"/>
              </a:tblGrid>
              <a:tr h="635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策略含义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对模型的改动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现状基线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维持现有工作方式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教师每周随机选择学生服务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技能补强培训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面向缺口最大的学生开设培训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缺口最多的前 30% 学生学习率 +0.2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精准帮扶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依据风险预警分配教师时间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教师每周按风险分从高到低服务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岗位精准推送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跨城市推送匹配岗位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所有学生每周可见全部城市岗位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组合策略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三项措施同时实施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以上三项改动同时生效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3B5B5-5AF6-4C61-AE99-4F36C0A2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57300"/>
            <a:ext cx="4743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 3  输出指标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698E5-334B-4939-9D6D-4986305A71A2}"/>
              </a:ext>
            </a:extLst>
          </p:cNvPr>
          <p:cNvGraphicFramePr/>
          <p:nvPr/>
        </p:nvGraphicFramePr>
        <p:xfrm>
          <a:off xmlns:a="http://schemas.openxmlformats.org/drawingml/2006/main" x="6915150" y="1638300"/>
          <a:ext xmlns:a="http://schemas.openxmlformats.org/drawingml/2006/main" cx="47434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4404"/>
                <a:gridCol w="2919046"/>
              </a:tblGrid>
              <a:tr h="54428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就业准备达标率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最佳匹配分 ≥ 60 的学生占比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岗位匹配达成率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已达成岗位匹配的学生占比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高风险人数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风险等级为高的学生人数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平均技能缺口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最佳匹配岗位的平均缺口技能数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教师工时占用率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实际服务次数 / 可用会谈数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技能供需缺口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容量加权技能需求 − 终点掌握人数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62862-D730-44FA-9208-BC050AD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每种策略只改一条规则 → 策略间差异可以归因到策略本身</a:t>
            </a:r>
          </a:p>
        </p:txBody>
      </p:sp>
    </p:spTree>
    <p:extLst>
      <p:ext uri="{BB962C8B-B14F-4D97-AF65-F5344CB8AC3E}">
        <p14:creationId xmlns:p14="http://schemas.microsoft.com/office/powerpoint/2010/main" val="19837707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D139F-6837-4705-98C9-7B083DCE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7C00C-A27E-43B5-AC5A-E4F5C4BD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B475D-4651-45EC-9671-AA6EAA5A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D0120-F387-411D-9278-B14D8A96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实验设计与模型检验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52505-69A7-4D98-A782-C3EFCBD0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F6777-41A1-4C6E-9EDF-A3E2D671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F7A1B-8BD6-4FAD-8CF0-3B0C88A6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599EC-1F97-4F4C-B529-E023DE9E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476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85938-A617-4346-82E8-25CCF043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238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默认情景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E8899-E2CD-48E4-A767-16C148B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76400"/>
            <a:ext cx="3143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300 人 × 16 周 × 10 次重复；距毕业 10 个月起步；种子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382F0-FAE3-4EC2-9493-522E2F58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238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共同随机数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D06FF-8096-49D4-BFEE-BF9807A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3143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第 r 次重复对所有策略用同一种子 seed + r：同一批学生、同一随机流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22685-CE0F-4B18-A214-AD8ACE3D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238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区间估计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007DF-62E7-4A24-820A-021D9B4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57600"/>
            <a:ext cx="3143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均值 ± 1.96·s/√n；两策略 95% CI 不重叠才判显著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6C37F-50C3-4720-B272-F656994E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238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随机流隔离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685E6-F294-4740-BFE5-BB95AF5E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48200"/>
            <a:ext cx="3143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行动、城市可见、基线服务名单各用独立派生的随机流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361EB-D971-4886-84CD-5484A3B9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257300"/>
            <a:ext cx="63627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 4  模型检验（V&amp;V），全部为自动化测试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2C32B-4F82-43A4-9073-5D545447F889}"/>
              </a:ext>
            </a:extLst>
          </p:cNvPr>
          <p:cNvGraphicFramePr/>
          <p:nvPr/>
        </p:nvGraphicFramePr>
        <p:xfrm>
          <a:off xmlns:a="http://schemas.openxmlformats.org/drawingml/2006/main" x="5295900" y="1676400"/>
          <a:ext xmlns:a="http://schemas.openxmlformats.org/drawingml/2006/main" cx="63627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0450"/>
                <a:gridCol w="2710039"/>
                <a:gridCol w="1885244"/>
                <a:gridCol w="706967"/>
              </a:tblGrid>
              <a:tr h="54428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等价性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仿真评分器 vs 业务 MatchingService，500 组样本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分数完全一致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相同参数与种子运行两次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输出逐字段相等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极端条件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岗位供给比例 ρ =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匹配达成率恒为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极端条件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教师数为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精准帮扶与基线完全相同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极端条件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学习率 0 且全员探索期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准备达标率不上升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策略 × 10 次重复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10 秒（实测 5.8 秒）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88C95-443B-4FFE-924F-F4A292E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676900"/>
            <a:ext cx="6362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A8D7C2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后端自动化测试 104 项全部通过</a:t>
            </a:r>
          </a:p>
        </p:txBody>
      </p:sp>
    </p:spTree>
    <p:extLst>
      <p:ext uri="{BB962C8B-B14F-4D97-AF65-F5344CB8AC3E}">
        <p14:creationId xmlns:p14="http://schemas.microsoft.com/office/powerpoint/2010/main" val="270579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271D7-3BC9-4BB9-B6FF-C9AD0CC8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0FA09-50D3-4F05-9E3B-944E357D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6CF1C-1AAD-4A59-B062-B66CDB15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1D62-AA4E-41EC-8A79-1FBE576C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结果：终点对比与决策含义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EC647-89F4-4289-AA99-6AC66C33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6C8FB-D9CC-497C-A163-0D0401E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E192E-519B-444F-ACDB-F31F0F62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75E0A-72F2-4761-A350-B65091F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l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注：结果基于合成群体与规则模型，用于策略相对比较，不代表真实就业预测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C894B-EF07-407A-887F-1C39A8F1BD07}"/>
              </a:ext>
            </a:extLst>
          </p:cNvPr>
          <p:cNvGraphicFramePr/>
          <p:nvPr/>
        </p:nvGraphicFramePr>
        <p:xfrm>
          <a:off xmlns:a="http://schemas.openxmlformats.org/drawingml/2006/main" x="533400" y="1257300"/>
          <a:ext xmlns:a="http://schemas.openxmlformats.org/drawingml/2006/main" cx="6667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818409"/>
                <a:gridCol w="1575955"/>
                <a:gridCol w="1939636"/>
              </a:tblGrid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匹配达成率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较基线 / 百分点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高风险人数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现状基线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53.4%（51.6–55.2）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6.7（5.0–8.4）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技能补强培训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55.5%（53.6–57.4）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+2.1（不显著）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2.6（1.4–3.8） ↓显著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精准帮扶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53.2%（51.2–55.2）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-0.2（不显著）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2.9（2.0–3.8） ↓显著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岗位精准推送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56.7%（55.4–58.0）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+3.3（显著）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3.6（2.5–4.7） ↓显著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EAF8F2"/>
                    </a:solidFill>
                  </a:tcPr>
                </a:tc>
              </a:tr>
            </a:tbl>
          </a:graphicData>
        </a:graphic>
      </p:graphicFrame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EB857-D877-4696-BAE6-3BA2AE6D7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85267bc734892"/>
          <a:stretch xmlns:a="http://schemas.openxmlformats.org/drawingml/2006/main"/>
        </p:blipFill>
        <p:spPr>
          <a:xfrm xmlns:a="http://schemas.openxmlformats.org/drawingml/2006/main">
            <a:off x="7391400" y="1565449"/>
            <a:ext cx="4267200" cy="176495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A49C0-34E3-4EEB-9A48-64353E3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目标：提高整体匹配率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1E152-FCF8-43FE-AC95-8342213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86296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优先岗位精准推送：+3.3 个百分点，显著。城市信息壁垒是限制匹配的重要因素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E4226-79AF-4066-9347-4A88EBD7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目标：兜住困难学生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5EEC4-0CF6-40FA-9486-02E7443C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05350"/>
            <a:ext cx="86296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精准帮扶或技能培训：高风险 6.7 → 2.9 / 2.6 人，显著；平均匹配率变化不显著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C1DD4-3EC5-4798-8E0A-FE169D87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配套提示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BBC2C-3A27-46A9-A11F-4D5ACE11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86296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推送后跨城岗位进入视野，“物联网”技能缺口扩大，推送需配套相应技能培训</a:t>
            </a:r>
          </a:p>
        </p:txBody>
      </p:sp>
    </p:spTree>
    <p:extLst>
      <p:ext uri="{BB962C8B-B14F-4D97-AF65-F5344CB8AC3E}">
        <p14:creationId xmlns:p14="http://schemas.microsoft.com/office/powerpoint/2010/main" val="16801397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82C23-FF49-4607-BCE4-B7DC767C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380F4-00FC-42E8-A92F-AB744059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105C2-1BEB-4705-9A58-00513267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924C6-DD6E-42FE-BB27-5940EBC2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结果：逐周变化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7D31A-7327-4689-B0DD-E9D1E78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09001-125B-4CC6-BBE8-3CF3CDC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AAF04-6DD9-4CED-AFB5-23D133FA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CE23E-95EA-4361-A7BB-AD3953EC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l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注：结果基于合成群体与规则模型，用于策略相对比较，不代表真实就业预测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6AEBA-30EE-43EF-A7F3-8B5346D85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95519e780453c"/>
          <a:stretch xmlns:a="http://schemas.openxmlformats.org/drawingml/2006/main"/>
        </p:blipFill>
        <p:spPr>
          <a:xfrm xmlns:a="http://schemas.openxmlformats.org/drawingml/2006/main">
            <a:off x="533400" y="1626873"/>
            <a:ext cx="5486400" cy="3070853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FC85B-1484-4C67-8069-35E5FC4FF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d42c143124bc6"/>
          <a:stretch xmlns:a="http://schemas.openxmlformats.org/drawingml/2006/main"/>
        </p:blipFill>
        <p:spPr>
          <a:xfrm xmlns:a="http://schemas.openxmlformats.org/drawingml/2006/main">
            <a:off x="6172200" y="1626873"/>
            <a:ext cx="5486400" cy="307085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F8821-9012-4B15-B91C-0F9DE81A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486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初始（第 0 周）准备达标率 32.7%；16 周内各策略匹配率持续上升，岗位精准推送全程领先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E0FDB-EDD7-4F95-8529-9AA50404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5486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F0C47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第 0 周高风险 71 人。第 14 周起小幅回升：距毕业降至 6 个月，仍在准备期者触发阶段因子，是“临近毕业未求职”的预警信号</a:t>
            </a:r>
          </a:p>
        </p:txBody>
      </p:sp>
    </p:spTree>
    <p:extLst>
      <p:ext uri="{BB962C8B-B14F-4D97-AF65-F5344CB8AC3E}">
        <p14:creationId xmlns:p14="http://schemas.microsoft.com/office/powerpoint/2010/main" val="2379855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DBADD-10EA-4253-BBCB-11986058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A90ED-71CD-4448-9F8C-B5730C1B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F3D71-2F56-4456-85BD-0B1AFFC8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19BE5-524E-4BEA-A411-CEDAAC8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敏感性分析（OAT）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92A03-10FB-43EF-AD6C-3C9DB566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FAE0C-2358-4AB9-8A77-106F68C9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06C39-526F-4CBB-AEE0-79587D76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CFE26-91AB-4793-9B52-9901786B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l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注：结果基于合成群体与规则模型，用于策略相对比较，不代表真实就业预测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F1E4E-5E84-4359-AE75-6E61E5A80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61d5b226347b6"/>
          <a:stretch xmlns:a="http://schemas.openxmlformats.org/drawingml/2006/main"/>
        </p:blipFill>
        <p:spPr>
          <a:xfrm xmlns:a="http://schemas.openxmlformats.org/drawingml/2006/main">
            <a:off x="533400" y="2228086"/>
            <a:ext cx="7239000" cy="253517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E97CC-DF5D-4433-BCFC-2959201C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3657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536BD-277D-4C0B-A88F-724BFEB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6618"/>
          </a:bodyPr>
          <a:lstStyle xmlns:a="http://schemas.openxmlformats.org/drawingml/2006/main">
            <a:defPPr algn="l"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岗位供给是主导因素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ABEBF-5A31-4C6A-9AF9-AAF36CA0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6576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供给比例 0.2 → 1.2：基线匹配率 18.9% → 60.8%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E5E01-82C0-4C1B-B194-59471A92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6618"/>
          </a:bodyPr>
          <a:lstStyle xmlns:a="http://schemas.openxmlformats.org/drawingml/2006/main">
            <a:defPPr algn="l">
              <a:defRPr sz="135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帮扶压降高风险稳健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1C0B-F218-4680-A881-52560392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6576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高风险显著低于基线：供给 4/4、学习率 3/3、教师数 2/4 个取值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52B19-4AC0-446C-B032-ABF7101B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6618"/>
          </a:bodyPr>
          <a:lstStyle xmlns:a="http://schemas.openxmlformats.org/drawingml/2006/main">
            <a:defPPr algn="l">
              <a:defRPr sz="1350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rPr>
              <a:t>与极端条件一致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BB3DD-0747-4760-AEC6-535E51C2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6576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教师数为 0 时帮扶与基线完全相同；人力充足时二者差距缩小</a:t>
            </a:r>
          </a:p>
        </p:txBody>
      </p:sp>
    </p:spTree>
    <p:extLst>
      <p:ext uri="{BB962C8B-B14F-4D97-AF65-F5344CB8AC3E}">
        <p14:creationId xmlns:p14="http://schemas.microsoft.com/office/powerpoint/2010/main" val="20077025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EC7F8-74E2-40B0-970B-D50FD46E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4E067-004A-4BFD-BBFE-FA792FEB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EBF0C-D5EF-46B3-9EDC-FD3F943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B8C6E-1EF0-464E-8B9D-17BFB6A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9DAD3-B57B-4BEE-8432-B284706D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C1875-1DE3-47F7-AD5B-5D945D7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7E416-DC05-4F0D-A5D7-B925FCCF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92658-0D73-44D5-B837-37A42BD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20D17-2057-4E5C-B951-2ED4BB1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47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教师 · 风险预警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A9605-1A83-4CE2-9929-E9B1864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按风险排序授权学生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展开一名高风险学生的六因子与干预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B3E1F-2482-4F8F-A7E9-C4BA0B1F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1244A-58C1-4204-A6E1-66ED13E1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247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 · 策略仿真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C533A-1786-4B88-9B4E-A353BB12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默认参数：300 人 × 16 周 × 10 次，四策略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约 6 秒出逐周曲线与终点 CI 表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51069-F4B7-443D-B920-B88AFA4E697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09900" y="2781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3CF1C-CDD7-4A8D-91F4-9D36B09C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24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CA5FC-02CF-4440-8BD0-C7AE931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47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 · 策略报告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62BF2-9E36-4DE4-81CE-C730FCE4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数字全部由后端计算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区间重叠的策略写“差异不显著”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8F900-7FC9-4B5D-B25B-6C2A33EBA65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867400" y="2781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CA3B4-C8B2-427E-B1D1-9CAA1D20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24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CC52D-9CC3-4F4A-B873-62D43884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2476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 · 采纳留痕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75BF4-23B5-46AF-A65C-7D29B06C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040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采纳只写脱敏审计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不触发任何自动操作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0E61B-C038-4730-B934-A462655B87F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24900" y="2781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83A6B-C981-4A69-8654-3C074E91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A8D7C2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现场结果可复现：岗位模板来自固定数据，参数与种子相同则与第 12 页逐字段一致（如岗位精准推送 56.7%）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682F9-F1E4-42A9-9793-C472756F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演示账号与学生均为合成数据，不含真实学号或联系方式；备份截图见附录 D</a:t>
            </a:r>
          </a:p>
        </p:txBody>
      </p:sp>
    </p:spTree>
    <p:extLst>
      <p:ext uri="{BB962C8B-B14F-4D97-AF65-F5344CB8AC3E}">
        <p14:creationId xmlns:p14="http://schemas.microsoft.com/office/powerpoint/2010/main" val="9251629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7972E-EB23-450B-8D9C-2384DA7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29BC3-8738-4E69-B111-4226312E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5A5D5-27E5-4CEC-8EAE-738B6B84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A0E02-208B-4A8E-8428-3E3A05C9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隐私安全与特色创新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303C9-3778-4BE9-B8E8-5B9940ED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A1E6F-55EE-4DC9-A878-C7C2C98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FA7BD-317A-4254-AC0C-7F90E85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25DEB-62E3-4BE0-9529-EF21833D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381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隐私、安全与人工决策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18E86-54AF-4961-AD4E-504826E7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8567"/>
          </a:bodyPr>
          <a:lstStyle xmlns:a="http://schemas.openxmlformats.org/drawingml/2006/main">
            <a:defPPr algn="l"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k = 5 小样本抑制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06BD0-F4F8-482D-9622-551B09EB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38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群体画像分组少于 5 人合并或隐藏，不返回个人记录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CFBA1-D166-4C52-9ED7-2E89B77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8567"/>
          </a:bodyPr>
          <a:lstStyle xmlns:a="http://schemas.openxmlformats.org/drawingml/2006/main">
            <a:defPPr algn="l"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越权返回 403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2A252-A174-4F27-A6DA-3E473455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教师只能看到已授权学生；接口不回显学号与联系方式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1188D-E0D3-4D58-9730-61009A59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8567"/>
          </a:bodyPr>
          <a:lstStyle xmlns:a="http://schemas.openxmlformats.org/drawingml/2006/main">
            <a:defPPr algn="l"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审计最小化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86CD6-E8C0-4052-BCD9-B09D9FB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38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只记角色、动作、资源、时间，不记画像正文或密钥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82269-4BFD-4F1B-8057-091BE181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8567"/>
          </a:bodyPr>
          <a:lstStyle xmlns:a="http://schemas.openxmlformats.org/drawingml/2006/main">
            <a:defPPr algn="l"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大模型可降级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2266F-C7D1-4575-86F7-A7203FC5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38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只解读报告并标注需人工审核；平台不可用时返回确定性报告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CD2A8-969B-4A95-B117-3F2C03F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57300"/>
            <a:ext cx="6438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特色与创新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E46B0-5B5A-437F-AEFD-82F3C55A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533400" cy="685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F883B-B685-497D-90D6-4D324C70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95450"/>
            <a:ext cx="5810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业务与仿真同源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仿真复用线上匹配与风险模型，500 组样本逐分一致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AB297-C6BB-45EE-8024-DD3091A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533400" cy="685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A0F85-3E2C-4DDD-BA66-C3CC33D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5810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无受保护属性的可解释预警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风险分逐因子拆解并对应干预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4B540-6B48-4404-A9D7-90C56D3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533400" cy="685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C8D0F-A867-4BFF-B053-7B3D5E5D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1850"/>
            <a:ext cx="5810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统计上诚实的策略评估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共同随机数 + 重复 + 置信区间，重叠即判不显著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97857-4A78-42FB-8BDD-6242B821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10050"/>
            <a:ext cx="533400" cy="685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AC516-D333-4810-A031-F7FC9222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10050"/>
            <a:ext cx="5810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“模型辅助、人工决策”闭环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大模型不产生数字，采纳只留痕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B35F49-D54E-4E1A-A826-E4B1B111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48250"/>
            <a:ext cx="533400" cy="685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1FFAA-B787-449A-A3C2-209017E2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48250"/>
            <a:ext cx="5810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轻量可复制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纯 Python 内核，数秒完成，参数可配置，可推广到其他高校</a:t>
            </a:r>
          </a:p>
        </p:txBody>
      </p:sp>
    </p:spTree>
    <p:extLst>
      <p:ext uri="{BB962C8B-B14F-4D97-AF65-F5344CB8AC3E}">
        <p14:creationId xmlns:p14="http://schemas.microsoft.com/office/powerpoint/2010/main" val="3722065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B4589-FEAA-4DEA-A356-330B442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48B84-A11E-40E5-A3C5-94183E1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5B34A-BC43-480F-9614-2B75ABA9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5C0FD-A104-404D-A0BC-FDE1C738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局限、后续与致谢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64682-3DC5-47B5-AF3D-6266CD0F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27C61-EA83-47C8-938B-EE16A67A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23978-E997-4FCD-AFE4-48D0DEC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CB79D-130C-4E74-B6B4-7F99FA0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33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B6231-EF2A-403F-9DE0-B19DBC1F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0C47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仿真群体为合成数据，结论用于策略间相对比较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λ、θ、φ 等行为参数为合理假设，尚未用真实数据校准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策略以最小规则改动表示，未覆盖政策组合的全部细节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C716B-2886-421A-BB32-54703DC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57300"/>
            <a:ext cx="533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1206E-2B53-48C6-9E73-FB6786A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A8D7C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用脱敏的历届就业数据校准学习率、主动性与城市弹性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对比仿真预测与实际就业结果，迭代模型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在更多院系试用，积累治理策略采纳与效果记录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5C0DD-5EF5-40EB-8E10-8C868BBD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1125200" cy="2114550"/>
          </a:xfrm>
          <a:prstGeom xmlns:a="http://schemas.openxmlformats.org/drawingml/2006/main" prst="roundRect">
            <a:avLst>
              <a:gd name="adj" fmla="val 4505"/>
            </a:avLst>
          </a:prstGeom>
          <a:gradFill xmlns:a="http://schemas.openxmlformats.org/drawingml/2006/main">
            <a:gsLst>
              <a:gs pos="0">
                <a:srgbClr val="10275A"/>
              </a:gs>
              <a:gs pos="100000">
                <a:srgbClr val="2457D6"/>
              </a:gs>
            </a:gsLst>
            <a:lin ang="72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AB4A9-71FF-4AAC-BF22-2F2FD1D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可解释预警 · 先推演后投入 · 人工作决策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63B33-E153-45BA-8ABA-E44DC80A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感谢各位评委，欢迎批评指正</a:t>
            </a:r>
          </a:p>
        </p:txBody>
      </p:sp>
    </p:spTree>
    <p:extLst>
      <p:ext uri="{BB962C8B-B14F-4D97-AF65-F5344CB8AC3E}">
        <p14:creationId xmlns:p14="http://schemas.microsoft.com/office/powerpoint/2010/main" val="1240218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FDCA2-2DE2-47B4-A665-BCB35534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1315B-3DBD-44C0-8BB2-35BD774B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92792-3E77-4640-8B1D-F22FAEE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B297B-9EAD-4763-8566-744AE07E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附录 A  岗位匹配五维权重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67E52-C2EF-4F14-AF74-712686A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DF2C8-73DF-4BD2-8E22-22AED2C1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621C3-2D03-41EF-ABA4-11392486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附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57B19-53D1-4D36-994B-193ECD3E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技能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ABFE0-C667-469E-BFF1-DEB1722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581150"/>
            <a:ext cx="3810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72C2E-F9AC-4926-9DE6-C5DFAC9C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581150"/>
            <a:ext cx="3810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19EAC-8F02-41FB-8B7C-D6CBCA3F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240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50 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8776C-4280-4AE4-B522-E59D5E42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0474E-C85E-423F-9335-9F2EA824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86000"/>
            <a:ext cx="3810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6EFC4-CC23-4A10-ACE5-48BEEFB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86000"/>
            <a:ext cx="1524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44D6C-26E6-4FD5-B384-94B7808E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20 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CAE1B-681E-42B0-AFF3-1B3D651D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2CBFF-43CF-4E84-B584-ECE271D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3810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B66FA-E031-4A13-A0EA-83E14617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1143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01E36-335F-493D-B7F4-213EE94E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33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15 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4A5C0-F016-4868-A384-B9E821F7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目标岗位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6E7D9-3441-4CFA-9ED8-8DB58C5B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95700"/>
            <a:ext cx="3810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623D2-C2AA-45B6-8339-D3F33B9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95700"/>
            <a:ext cx="762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53DB0-A0FF-4766-B862-1C87FE08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385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rPr>
              <a:t>10 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F0333-45A9-4E90-9BD0-6B551581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城市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1F0E6-47C1-465E-8BAA-AE46891D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00550"/>
            <a:ext cx="3810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56DD5-BA74-498C-821D-6EC1A17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00550"/>
            <a:ext cx="381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C94D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6C37BA-C2F7-427E-9045-F95258E7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434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rPr>
              <a:t>5 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31B22-5D58-4AE5-9755-35CCF45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610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硬性过滤与解释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06F0D0-EAA5-4463-B529-34E6C58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4610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仅使用已发布、未过期且有来源的岗位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同分按有效期与岗位名固定排序，结果稳定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返回分项得分、能力缺口与岗位来源</a:t>
            </a:r>
          </a:p>
          <a:p xmlns:a="http://schemas.openxmlformats.org/drawingml/2006/main">
            <a:pPr marL="279400" indent="-1397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行动计划只基于真实缺口生成，不承诺录用</a:t>
            </a:r>
          </a:p>
        </p:txBody>
      </p:sp>
    </p:spTree>
    <p:extLst>
      <p:ext uri="{BB962C8B-B14F-4D97-AF65-F5344CB8AC3E}">
        <p14:creationId xmlns:p14="http://schemas.microsoft.com/office/powerpoint/2010/main" val="17132656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0F35F-DA10-49EC-A3D0-4BE1D947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D3278-34DB-469E-92B7-FE53AD6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E591-139B-40EC-9107-5461C848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ACAE3-13F8-4F06-A139-10126C55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附录 B  SF-FastGPT 双路问答与降级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33DDA-8D8D-408C-B9F2-DDE61F5E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B58FE-217C-41CB-8DFD-2AD2AEBD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D2A21-40A2-40F9-8BF7-9CE5B16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附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1853B-168F-4BB4-A6EB-590C83E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用户问题 / 仿真报告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EBE0F-B739-405C-B2D8-6BDA4591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286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1430">
            <a:solidFill>
              <a:srgbClr val="9ACFC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服务端路由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42D91-20FD-479A-AC0E-F34F6D92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职业发展应用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6D68E-3744-4062-BA55-79712B7E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就业政策应用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6DE63-E27F-4BD1-9099-5F394B9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19250"/>
            <a:ext cx="1905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F0C47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文字回答 / 解读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A1969-EFDE-443C-8716-67341586C61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2000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50D79-7D1F-4D80-88EE-C362CE97EEF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715000" y="1552575"/>
            <a:ext cx="85725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8FE84-5023-4E78-A9CF-F0B4EACE306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15000" y="2000250"/>
            <a:ext cx="85725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0A5CE-C03D-450E-BEB4-988E5044CC2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953500" y="1552575"/>
            <a:ext cx="76200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FCBE1-2C64-42F8-BA2A-3538ADC0E10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953500" y="2000250"/>
            <a:ext cx="76200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B5C49-45C0-4E0E-98D8-A47E7FD0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有结构化来源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87389-9A5D-49E7-9093-6073750D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7620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显示回答与来源链接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D84C9-F499-4B02-B3C8-853847FC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无来源或需判断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1A469-F542-401A-A24A-69A721E7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7620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保留回答并提示人工确认；报告解读标注“需人工审核”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B3BC7-DCCA-4C85-BF44-9555E9DF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94D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超时或异常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3A5DE-1787-4519-97A5-29BDFE0F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81550"/>
            <a:ext cx="7620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返回稳定降级提示，仿真报告退回确定性版本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97ECC0-BE92-4A38-AA86-BC592AE0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API Key 只在服务端；大模型不直接访问业务数据库，不生成或改写任何仿真数字</a:t>
            </a:r>
          </a:p>
        </p:txBody>
      </p:sp>
    </p:spTree>
    <p:extLst>
      <p:ext uri="{BB962C8B-B14F-4D97-AF65-F5344CB8AC3E}">
        <p14:creationId xmlns:p14="http://schemas.microsoft.com/office/powerpoint/2010/main" val="14740934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818AC-7C18-4286-B109-CFE9FB6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02AF3-D43A-4565-BFDB-5580E437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A06E8-C735-45DA-A1D0-E30A1EF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D0340-6FF6-413F-B913-95E8C32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附录 C  数据模型与权限边界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64A19-7273-464E-88AB-852B9B92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7F12E-E74E-42A4-88B7-C913F3A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BEA1D-00E1-48EB-AC1E-8C658410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附 C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9A242-0C23-4500-92A3-188D1D78283D}"/>
              </a:ext>
            </a:extLst>
          </p:cNvPr>
          <p:cNvGraphicFramePr/>
          <p:nvPr/>
        </p:nvGraphicFramePr>
        <p:xfrm>
          <a:off xmlns:a="http://schemas.openxmlformats.org/drawingml/2006/main" x="533400" y="1333500"/>
          <a:ext xmlns:a="http://schemas.openxmlformats.org/drawingml/2006/main" cx="111252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9593"/>
                <a:gridCol w="4450080"/>
                <a:gridCol w="4045527"/>
              </a:tblGrid>
              <a:tr h="49741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主要字段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T w="9525">
                      <a:solidFill>
                        <a:srgbClr val="D9E4F5"/>
                      </a:solidFill>
                      <a:prstDash val="solid"/>
                    </a:lnT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173568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· username · role · enrollment_year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学号与联系方式不进入治理接口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career_profiles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student_id · major · skills · projects · target_roles · job_stage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教师只见授权学生摘要，不见技能与项目原文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job_postings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title · city · required_skills · source_url · 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仅已发布且未过期岗位参与匹配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match_results / action_plans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score · gaps / items · 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学生本人与授权教师可见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counselor_student_access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counselor_id · student_id（唯一）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决定教师可见范围，越权 403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teacher_advice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counselor_id · student_id · action_plan_id · content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学生只见意见正文与时间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simulation_runs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params · seed · model_version · results · adopted_scenario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仅管理员；只存合成数据结果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audit_events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4F5"/>
                      </a:solidFill>
                      <a:prstDash val="solid"/>
                    </a:lnL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actor_role · action · resource_type · created_at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不记录画像正文、密钥或连接串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4F5"/>
                      </a:solidFill>
                      <a:prstDash val="solid"/>
                    </a:lnR>
                    <a:lnB w="9525">
                      <a:solidFill>
                        <a:srgbClr val="D9E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755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A87D6-8C36-47A8-A72A-12818E89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3568"/>
              </a:gs>
              <a:gs pos="100000">
                <a:srgbClr val="2457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A7275-9FC2-456D-BA34-DB9925E7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 · 高校毕业生就业治理智能体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51566-8A69-4936-B792-14EE3B0B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中国仿真创新应用大赛 · 智能社会治理赛道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7EF6A-E6AD-4FCF-BE85-17F9068D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附录 D  演示备份截图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AA6B4-EE2F-4D49-A4D3-CD5BFFEE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2378A-3CA5-4DE0-A126-58BA1B6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4A27E-3975-4D6A-BC4E-9CB775B7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4541"/>
          </a:bodyPr>
          <a:lstStyle xmlns:a="http://schemas.openxmlformats.org/drawingml/2006/main">
            <a:defPPr algn="r"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附 D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DB944-93C6-418A-A324-44A699538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b852fc6214852"/>
          <a:srcRect xmlns:a="http://schemas.openxmlformats.org/drawingml/2006/main" l="14000" t="8000" r="0" b="8000"/>
          <a:stretch xmlns:a="http://schemas.openxmlformats.org/drawingml/2006/main"/>
        </p:blipFill>
        <p:spPr>
          <a:xfrm xmlns:a="http://schemas.openxmlformats.org/drawingml/2006/main">
            <a:off x="533400" y="1257300"/>
            <a:ext cx="5486400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6144E-4F55-400D-A211-A475E74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956"/>
          </a:bodyPr>
          <a:lstStyle xmlns:a="http://schemas.openxmlformats.org/drawingml/2006/main">
            <a:defPPr algn="ctr"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教师 · 风险预警（六因子与干预）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D9FFC-8FA4-413B-ACB0-23C4CE6C4A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4ae19f3e04fac"/>
          <a:stretch xmlns:a="http://schemas.openxmlformats.org/drawingml/2006/main"/>
        </p:blipFill>
        <p:spPr>
          <a:xfrm xmlns:a="http://schemas.openxmlformats.org/drawingml/2006/main">
            <a:off x="7000650" y="1257300"/>
            <a:ext cx="3829500" cy="2190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553A5-580B-408A-B973-DA7BD8DF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956"/>
          </a:bodyPr>
          <a:lstStyle xmlns:a="http://schemas.openxmlformats.org/drawingml/2006/main">
            <a:defPPr algn="ctr"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 · 策略仿真逐周曲线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7C1C9-A498-43C5-8787-50315ED3E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db65381314e65"/>
          <a:stretch xmlns:a="http://schemas.openxmlformats.org/drawingml/2006/main"/>
        </p:blipFill>
        <p:spPr>
          <a:xfrm xmlns:a="http://schemas.openxmlformats.org/drawingml/2006/main">
            <a:off x="1396394" y="3924300"/>
            <a:ext cx="3760411" cy="2190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93347-177C-4F66-90DA-294DC37F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956"/>
          </a:bodyPr>
          <a:lstStyle xmlns:a="http://schemas.openxmlformats.org/drawingml/2006/main">
            <a:defPPr algn="ctr"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 · 确定性策略报告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5571E-CD74-46B4-9650-BE55CD90AE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82ba1fb5e4143"/>
          <a:srcRect xmlns:a="http://schemas.openxmlformats.org/drawingml/2006/main" l="14000" t="8000" r="0" b="45000"/>
          <a:stretch xmlns:a="http://schemas.openxmlformats.org/drawingml/2006/main"/>
        </p:blipFill>
        <p:spPr>
          <a:xfrm xmlns:a="http://schemas.openxmlformats.org/drawingml/2006/main">
            <a:off x="6172200" y="3924300"/>
            <a:ext cx="5486400" cy="2190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82589-2C22-416E-9BB9-83A185A5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5315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956"/>
          </a:bodyPr>
          <a:lstStyle xmlns:a="http://schemas.openxmlformats.org/drawingml/2006/main">
            <a:defPPr algn="ctr"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 · 审计中的“采纳治理策略”记录</a:t>
            </a:r>
          </a:p>
        </p:txBody>
      </p:sp>
    </p:spTree>
    <p:extLst>
      <p:ext uri="{BB962C8B-B14F-4D97-AF65-F5344CB8AC3E}">
        <p14:creationId xmlns:p14="http://schemas.microsoft.com/office/powerpoint/2010/main" val="673606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2026-10-17T12:16:46.4990000Z</dcterms:created>
  <dcterms:modified xsi:type="dcterms:W3CDTF">2026-10-17T12:16:46.4990000Z</dcterms:modified>
</coreProperties>
</file>